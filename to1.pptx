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4" d="100"/>
          <a:sy n="44" d="100"/>
        </p:scale>
        <p:origin x="87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EFEE"/>
        </a:solidFill>
        <a:effectLst/>
      </p:bgPr>
    </p:bg>
    <p:spTree>
      <p:nvGrpSpPr>
        <p:cNvPr id="1" name=""/>
        <p:cNvGrpSpPr/>
        <p:nvPr/>
      </p:nvGrpSpPr>
      <p:grpSpPr>
        <a:xfrm>
          <a:off x="0" y="0"/>
          <a:ext cx="0" cy="0"/>
          <a:chOff x="0" y="0"/>
          <a:chExt cx="0" cy="0"/>
        </a:xfrm>
      </p:grpSpPr>
      <p:sp>
        <p:nvSpPr>
          <p:cNvPr id="4" name="TextBox 4"/>
          <p:cNvSpPr txBox="1"/>
          <p:nvPr/>
        </p:nvSpPr>
        <p:spPr>
          <a:xfrm>
            <a:off x="1524000" y="1114425"/>
            <a:ext cx="15240000" cy="8029575"/>
          </a:xfrm>
          <a:prstGeom prst="rect">
            <a:avLst/>
          </a:prstGeom>
        </p:spPr>
        <p:txBody>
          <a:bodyPr lIns="50800" tIns="50800" rIns="50800" bIns="50800" rtlCol="0" anchor="ctr"/>
          <a:lstStyle/>
          <a:p>
            <a:pPr algn="l">
              <a:lnSpc>
                <a:spcPts val="1679"/>
              </a:lnSpc>
            </a:pPr>
            <a:endParaRPr/>
          </a:p>
        </p:txBody>
      </p:sp>
      <p:grpSp>
        <p:nvGrpSpPr>
          <p:cNvPr id="7" name="Group 7"/>
          <p:cNvGrpSpPr/>
          <p:nvPr/>
        </p:nvGrpSpPr>
        <p:grpSpPr>
          <a:xfrm>
            <a:off x="16097250" y="8382000"/>
            <a:ext cx="381000" cy="381000"/>
            <a:chOff x="0" y="0"/>
            <a:chExt cx="508000" cy="508000"/>
          </a:xfrm>
        </p:grpSpPr>
        <p:sp>
          <p:nvSpPr>
            <p:cNvPr id="8" name="Freeform 8"/>
            <p:cNvSpPr/>
            <p:nvPr/>
          </p:nvSpPr>
          <p:spPr>
            <a:xfrm>
              <a:off x="0" y="0"/>
              <a:ext cx="508000" cy="508000"/>
            </a:xfrm>
            <a:custGeom>
              <a:avLst/>
              <a:gdLst/>
              <a:ahLst/>
              <a:cxnLst/>
              <a:rect l="l" t="t" r="r" b="b"/>
              <a:pathLst>
                <a:path w="508000" h="508000">
                  <a:moveTo>
                    <a:pt x="254000" y="0"/>
                  </a:moveTo>
                  <a:cubicBezTo>
                    <a:pt x="394280" y="0"/>
                    <a:pt x="508000" y="113720"/>
                    <a:pt x="508000" y="254000"/>
                  </a:cubicBezTo>
                  <a:cubicBezTo>
                    <a:pt x="508000" y="394280"/>
                    <a:pt x="394280" y="508000"/>
                    <a:pt x="254000" y="508000"/>
                  </a:cubicBezTo>
                  <a:cubicBezTo>
                    <a:pt x="113720" y="508000"/>
                    <a:pt x="0" y="394280"/>
                    <a:pt x="0" y="254000"/>
                  </a:cubicBezTo>
                  <a:cubicBezTo>
                    <a:pt x="0" y="113720"/>
                    <a:pt x="113720" y="0"/>
                    <a:pt x="254000" y="0"/>
                  </a:cubicBezTo>
                  <a:close/>
                </a:path>
              </a:pathLst>
            </a:custGeom>
            <a:solidFill>
              <a:srgbClr val="2A8A86"/>
            </a:solidFill>
            <a:ln cap="sq">
              <a:noFill/>
              <a:prstDash val="solid"/>
              <a:miter/>
            </a:ln>
          </p:spPr>
        </p:sp>
      </p:grpSp>
      <p:grpSp>
        <p:nvGrpSpPr>
          <p:cNvPr id="9" name="Group 9"/>
          <p:cNvGrpSpPr/>
          <p:nvPr/>
        </p:nvGrpSpPr>
        <p:grpSpPr>
          <a:xfrm>
            <a:off x="654163" y="6777533"/>
            <a:ext cx="2095500" cy="381000"/>
            <a:chOff x="0" y="0"/>
            <a:chExt cx="2794000" cy="508000"/>
          </a:xfrm>
        </p:grpSpPr>
        <p:sp>
          <p:nvSpPr>
            <p:cNvPr id="10" name="Freeform 10"/>
            <p:cNvSpPr/>
            <p:nvPr/>
          </p:nvSpPr>
          <p:spPr>
            <a:xfrm>
              <a:off x="0" y="0"/>
              <a:ext cx="2794000" cy="508000"/>
            </a:xfrm>
            <a:custGeom>
              <a:avLst/>
              <a:gdLst/>
              <a:ahLst/>
              <a:cxnLst/>
              <a:rect l="l" t="t" r="r" b="b"/>
              <a:pathLst>
                <a:path w="2794000" h="508000">
                  <a:moveTo>
                    <a:pt x="115455" y="0"/>
                  </a:moveTo>
                  <a:lnTo>
                    <a:pt x="2678545" y="0"/>
                  </a:lnTo>
                  <a:cubicBezTo>
                    <a:pt x="2709166" y="0"/>
                    <a:pt x="2738532" y="12164"/>
                    <a:pt x="2760184" y="33816"/>
                  </a:cubicBezTo>
                  <a:cubicBezTo>
                    <a:pt x="2781836" y="55468"/>
                    <a:pt x="2794000" y="84834"/>
                    <a:pt x="2794000" y="115455"/>
                  </a:cubicBezTo>
                  <a:lnTo>
                    <a:pt x="2794000" y="392545"/>
                  </a:lnTo>
                  <a:cubicBezTo>
                    <a:pt x="2794000" y="423166"/>
                    <a:pt x="2781836" y="452532"/>
                    <a:pt x="2760184" y="474184"/>
                  </a:cubicBezTo>
                  <a:cubicBezTo>
                    <a:pt x="2738532" y="495836"/>
                    <a:pt x="2709166" y="508000"/>
                    <a:pt x="2678545" y="508000"/>
                  </a:cubicBezTo>
                  <a:lnTo>
                    <a:pt x="115455" y="508000"/>
                  </a:lnTo>
                  <a:cubicBezTo>
                    <a:pt x="84834" y="508000"/>
                    <a:pt x="55468" y="495836"/>
                    <a:pt x="33816" y="474184"/>
                  </a:cubicBezTo>
                  <a:cubicBezTo>
                    <a:pt x="12164" y="452532"/>
                    <a:pt x="0" y="423166"/>
                    <a:pt x="0" y="392545"/>
                  </a:cubicBezTo>
                  <a:lnTo>
                    <a:pt x="0" y="115455"/>
                  </a:lnTo>
                  <a:cubicBezTo>
                    <a:pt x="0" y="84834"/>
                    <a:pt x="12164" y="55468"/>
                    <a:pt x="33816" y="33816"/>
                  </a:cubicBezTo>
                  <a:cubicBezTo>
                    <a:pt x="55468" y="12164"/>
                    <a:pt x="84834" y="0"/>
                    <a:pt x="115455" y="0"/>
                  </a:cubicBezTo>
                  <a:close/>
                </a:path>
              </a:pathLst>
            </a:custGeom>
            <a:solidFill>
              <a:srgbClr val="F7D774"/>
            </a:solidFill>
            <a:ln w="19050" cap="sq">
              <a:solidFill>
                <a:srgbClr val="3A3A3A"/>
              </a:solidFill>
              <a:prstDash val="solid"/>
              <a:miter/>
            </a:ln>
          </p:spPr>
        </p:sp>
        <p:sp>
          <p:nvSpPr>
            <p:cNvPr id="11" name="TextBox 11"/>
            <p:cNvSpPr txBox="1"/>
            <p:nvPr/>
          </p:nvSpPr>
          <p:spPr>
            <a:xfrm>
              <a:off x="0" y="-38100"/>
              <a:ext cx="2794000" cy="546100"/>
            </a:xfrm>
            <a:prstGeom prst="rect">
              <a:avLst/>
            </a:prstGeom>
          </p:spPr>
          <p:txBody>
            <a:bodyPr lIns="50800" tIns="50800" rIns="50800" bIns="50800" rtlCol="0" anchor="ctr"/>
            <a:lstStyle/>
            <a:p>
              <a:pPr algn="l">
                <a:lnSpc>
                  <a:spcPts val="1679"/>
                </a:lnSpc>
              </a:pPr>
              <a:endParaRPr/>
            </a:p>
          </p:txBody>
        </p:sp>
      </p:grpSp>
      <p:grpSp>
        <p:nvGrpSpPr>
          <p:cNvPr id="12" name="Group 12"/>
          <p:cNvGrpSpPr/>
          <p:nvPr/>
        </p:nvGrpSpPr>
        <p:grpSpPr>
          <a:xfrm>
            <a:off x="1692729" y="7137565"/>
            <a:ext cx="2095500" cy="381000"/>
            <a:chOff x="0" y="0"/>
            <a:chExt cx="2794000" cy="508000"/>
          </a:xfrm>
        </p:grpSpPr>
        <p:sp>
          <p:nvSpPr>
            <p:cNvPr id="13" name="Freeform 13"/>
            <p:cNvSpPr/>
            <p:nvPr/>
          </p:nvSpPr>
          <p:spPr>
            <a:xfrm>
              <a:off x="0" y="0"/>
              <a:ext cx="2794000" cy="508000"/>
            </a:xfrm>
            <a:custGeom>
              <a:avLst/>
              <a:gdLst/>
              <a:ahLst/>
              <a:cxnLst/>
              <a:rect l="l" t="t" r="r" b="b"/>
              <a:pathLst>
                <a:path w="2794000" h="508000">
                  <a:moveTo>
                    <a:pt x="115455" y="0"/>
                  </a:moveTo>
                  <a:lnTo>
                    <a:pt x="2678545" y="0"/>
                  </a:lnTo>
                  <a:cubicBezTo>
                    <a:pt x="2709166" y="0"/>
                    <a:pt x="2738532" y="12164"/>
                    <a:pt x="2760184" y="33816"/>
                  </a:cubicBezTo>
                  <a:cubicBezTo>
                    <a:pt x="2781836" y="55468"/>
                    <a:pt x="2794000" y="84834"/>
                    <a:pt x="2794000" y="115455"/>
                  </a:cubicBezTo>
                  <a:lnTo>
                    <a:pt x="2794000" y="392545"/>
                  </a:lnTo>
                  <a:cubicBezTo>
                    <a:pt x="2794000" y="423166"/>
                    <a:pt x="2781836" y="452532"/>
                    <a:pt x="2760184" y="474184"/>
                  </a:cubicBezTo>
                  <a:cubicBezTo>
                    <a:pt x="2738532" y="495836"/>
                    <a:pt x="2709166" y="508000"/>
                    <a:pt x="2678545" y="508000"/>
                  </a:cubicBezTo>
                  <a:lnTo>
                    <a:pt x="115455" y="508000"/>
                  </a:lnTo>
                  <a:cubicBezTo>
                    <a:pt x="84834" y="508000"/>
                    <a:pt x="55468" y="495836"/>
                    <a:pt x="33816" y="474184"/>
                  </a:cubicBezTo>
                  <a:cubicBezTo>
                    <a:pt x="12164" y="452532"/>
                    <a:pt x="0" y="423166"/>
                    <a:pt x="0" y="392545"/>
                  </a:cubicBezTo>
                  <a:lnTo>
                    <a:pt x="0" y="115455"/>
                  </a:lnTo>
                  <a:cubicBezTo>
                    <a:pt x="0" y="84834"/>
                    <a:pt x="12164" y="55468"/>
                    <a:pt x="33816" y="33816"/>
                  </a:cubicBezTo>
                  <a:cubicBezTo>
                    <a:pt x="55468" y="12164"/>
                    <a:pt x="84834" y="0"/>
                    <a:pt x="115455" y="0"/>
                  </a:cubicBezTo>
                  <a:close/>
                </a:path>
              </a:pathLst>
            </a:custGeom>
            <a:solidFill>
              <a:srgbClr val="2A8A86"/>
            </a:solidFill>
            <a:ln w="19050" cap="sq">
              <a:solidFill>
                <a:srgbClr val="3A3A3A"/>
              </a:solidFill>
              <a:prstDash val="solid"/>
              <a:miter/>
            </a:ln>
          </p:spPr>
        </p:sp>
        <p:sp>
          <p:nvSpPr>
            <p:cNvPr id="14" name="TextBox 14"/>
            <p:cNvSpPr txBox="1"/>
            <p:nvPr/>
          </p:nvSpPr>
          <p:spPr>
            <a:xfrm>
              <a:off x="0" y="-38100"/>
              <a:ext cx="2794000" cy="546100"/>
            </a:xfrm>
            <a:prstGeom prst="rect">
              <a:avLst/>
            </a:prstGeom>
          </p:spPr>
          <p:txBody>
            <a:bodyPr lIns="50800" tIns="50800" rIns="50800" bIns="50800" rtlCol="0" anchor="ctr"/>
            <a:lstStyle/>
            <a:p>
              <a:pPr algn="l">
                <a:lnSpc>
                  <a:spcPts val="1679"/>
                </a:lnSpc>
              </a:pPr>
              <a:endParaRPr/>
            </a:p>
          </p:txBody>
        </p:sp>
      </p:grpSp>
      <p:grpSp>
        <p:nvGrpSpPr>
          <p:cNvPr id="15" name="Group 15"/>
          <p:cNvGrpSpPr/>
          <p:nvPr/>
        </p:nvGrpSpPr>
        <p:grpSpPr>
          <a:xfrm>
            <a:off x="963386" y="7547140"/>
            <a:ext cx="2095500" cy="381000"/>
            <a:chOff x="0" y="0"/>
            <a:chExt cx="2794000" cy="508000"/>
          </a:xfrm>
        </p:grpSpPr>
        <p:sp>
          <p:nvSpPr>
            <p:cNvPr id="16" name="Freeform 16"/>
            <p:cNvSpPr/>
            <p:nvPr/>
          </p:nvSpPr>
          <p:spPr>
            <a:xfrm>
              <a:off x="0" y="0"/>
              <a:ext cx="2794000" cy="508000"/>
            </a:xfrm>
            <a:custGeom>
              <a:avLst/>
              <a:gdLst/>
              <a:ahLst/>
              <a:cxnLst/>
              <a:rect l="l" t="t" r="r" b="b"/>
              <a:pathLst>
                <a:path w="2794000" h="508000">
                  <a:moveTo>
                    <a:pt x="115455" y="0"/>
                  </a:moveTo>
                  <a:lnTo>
                    <a:pt x="2678545" y="0"/>
                  </a:lnTo>
                  <a:cubicBezTo>
                    <a:pt x="2709166" y="0"/>
                    <a:pt x="2738532" y="12164"/>
                    <a:pt x="2760184" y="33816"/>
                  </a:cubicBezTo>
                  <a:cubicBezTo>
                    <a:pt x="2781836" y="55468"/>
                    <a:pt x="2794000" y="84834"/>
                    <a:pt x="2794000" y="115455"/>
                  </a:cubicBezTo>
                  <a:lnTo>
                    <a:pt x="2794000" y="392545"/>
                  </a:lnTo>
                  <a:cubicBezTo>
                    <a:pt x="2794000" y="423166"/>
                    <a:pt x="2781836" y="452532"/>
                    <a:pt x="2760184" y="474184"/>
                  </a:cubicBezTo>
                  <a:cubicBezTo>
                    <a:pt x="2738532" y="495836"/>
                    <a:pt x="2709166" y="508000"/>
                    <a:pt x="2678545" y="508000"/>
                  </a:cubicBezTo>
                  <a:lnTo>
                    <a:pt x="115455" y="508000"/>
                  </a:lnTo>
                  <a:cubicBezTo>
                    <a:pt x="84834" y="508000"/>
                    <a:pt x="55468" y="495836"/>
                    <a:pt x="33816" y="474184"/>
                  </a:cubicBezTo>
                  <a:cubicBezTo>
                    <a:pt x="12164" y="452532"/>
                    <a:pt x="0" y="423166"/>
                    <a:pt x="0" y="392545"/>
                  </a:cubicBezTo>
                  <a:lnTo>
                    <a:pt x="0" y="115455"/>
                  </a:lnTo>
                  <a:cubicBezTo>
                    <a:pt x="0" y="84834"/>
                    <a:pt x="12164" y="55468"/>
                    <a:pt x="33816" y="33816"/>
                  </a:cubicBezTo>
                  <a:cubicBezTo>
                    <a:pt x="55468" y="12164"/>
                    <a:pt x="84834" y="0"/>
                    <a:pt x="115455" y="0"/>
                  </a:cubicBezTo>
                  <a:close/>
                </a:path>
              </a:pathLst>
            </a:custGeom>
            <a:solidFill>
              <a:srgbClr val="F28BA8"/>
            </a:solidFill>
            <a:ln w="19050" cap="sq">
              <a:solidFill>
                <a:srgbClr val="3A3A3A"/>
              </a:solidFill>
              <a:prstDash val="solid"/>
              <a:miter/>
            </a:ln>
          </p:spPr>
        </p:sp>
        <p:sp>
          <p:nvSpPr>
            <p:cNvPr id="17" name="TextBox 17"/>
            <p:cNvSpPr txBox="1"/>
            <p:nvPr/>
          </p:nvSpPr>
          <p:spPr>
            <a:xfrm>
              <a:off x="0" y="-38100"/>
              <a:ext cx="2794000" cy="546100"/>
            </a:xfrm>
            <a:prstGeom prst="rect">
              <a:avLst/>
            </a:prstGeom>
          </p:spPr>
          <p:txBody>
            <a:bodyPr lIns="50800" tIns="50800" rIns="50800" bIns="50800" rtlCol="0" anchor="ctr"/>
            <a:lstStyle/>
            <a:p>
              <a:pPr algn="l">
                <a:lnSpc>
                  <a:spcPts val="1679"/>
                </a:lnSpc>
              </a:pPr>
              <a:endParaRPr/>
            </a:p>
          </p:txBody>
        </p:sp>
      </p:grpSp>
      <p:grpSp>
        <p:nvGrpSpPr>
          <p:cNvPr id="18" name="Group 18"/>
          <p:cNvGrpSpPr/>
          <p:nvPr/>
        </p:nvGrpSpPr>
        <p:grpSpPr>
          <a:xfrm>
            <a:off x="13335000" y="5334000"/>
            <a:ext cx="2095500" cy="2095500"/>
            <a:chOff x="0" y="0"/>
            <a:chExt cx="2794000" cy="2794000"/>
          </a:xfrm>
        </p:grpSpPr>
        <p:sp>
          <p:nvSpPr>
            <p:cNvPr id="19" name="Freeform 19"/>
            <p:cNvSpPr/>
            <p:nvPr/>
          </p:nvSpPr>
          <p:spPr>
            <a:xfrm>
              <a:off x="0" y="0"/>
              <a:ext cx="2794000" cy="2794000"/>
            </a:xfrm>
            <a:custGeom>
              <a:avLst/>
              <a:gdLst/>
              <a:ahLst/>
              <a:cxnLst/>
              <a:rect l="l" t="t" r="r" b="b"/>
              <a:pathLst>
                <a:path w="2794000" h="2794000">
                  <a:moveTo>
                    <a:pt x="1397000" y="0"/>
                  </a:moveTo>
                  <a:cubicBezTo>
                    <a:pt x="2168542" y="0"/>
                    <a:pt x="2794000" y="625458"/>
                    <a:pt x="2794000" y="1397000"/>
                  </a:cubicBezTo>
                  <a:cubicBezTo>
                    <a:pt x="2794000" y="2168542"/>
                    <a:pt x="2168542" y="2794000"/>
                    <a:pt x="1397000" y="2794000"/>
                  </a:cubicBezTo>
                  <a:cubicBezTo>
                    <a:pt x="625458" y="2794000"/>
                    <a:pt x="0" y="2168542"/>
                    <a:pt x="0" y="1397000"/>
                  </a:cubicBezTo>
                  <a:cubicBezTo>
                    <a:pt x="0" y="625458"/>
                    <a:pt x="625458" y="0"/>
                    <a:pt x="1397000" y="0"/>
                  </a:cubicBezTo>
                  <a:close/>
                </a:path>
              </a:pathLst>
            </a:custGeom>
            <a:solidFill>
              <a:srgbClr val="EAF6F4"/>
            </a:solidFill>
            <a:ln w="76200" cap="sq">
              <a:solidFill>
                <a:srgbClr val="3A3A3A"/>
              </a:solidFill>
              <a:prstDash val="solid"/>
              <a:miter/>
            </a:ln>
          </p:spPr>
        </p:sp>
      </p:grpSp>
      <p:grpSp>
        <p:nvGrpSpPr>
          <p:cNvPr id="20" name="Group 20"/>
          <p:cNvGrpSpPr/>
          <p:nvPr/>
        </p:nvGrpSpPr>
        <p:grpSpPr>
          <a:xfrm rot="2400000">
            <a:off x="15144750" y="7334250"/>
            <a:ext cx="1238250" cy="209550"/>
            <a:chOff x="0" y="0"/>
            <a:chExt cx="1651000" cy="279400"/>
          </a:xfrm>
        </p:grpSpPr>
        <p:sp>
          <p:nvSpPr>
            <p:cNvPr id="21" name="Freeform 21"/>
            <p:cNvSpPr/>
            <p:nvPr/>
          </p:nvSpPr>
          <p:spPr>
            <a:xfrm>
              <a:off x="0" y="0"/>
              <a:ext cx="1651000" cy="279400"/>
            </a:xfrm>
            <a:custGeom>
              <a:avLst/>
              <a:gdLst/>
              <a:ahLst/>
              <a:cxnLst/>
              <a:rect l="l" t="t" r="r" b="b"/>
              <a:pathLst>
                <a:path w="1651000" h="279400">
                  <a:moveTo>
                    <a:pt x="139700" y="0"/>
                  </a:moveTo>
                  <a:lnTo>
                    <a:pt x="1511300" y="0"/>
                  </a:lnTo>
                  <a:cubicBezTo>
                    <a:pt x="1588454" y="0"/>
                    <a:pt x="1651000" y="62546"/>
                    <a:pt x="1651000" y="139700"/>
                  </a:cubicBezTo>
                  <a:lnTo>
                    <a:pt x="1651000" y="139700"/>
                  </a:lnTo>
                  <a:cubicBezTo>
                    <a:pt x="1651000" y="216854"/>
                    <a:pt x="1588454" y="279400"/>
                    <a:pt x="1511300" y="279400"/>
                  </a:cubicBezTo>
                  <a:lnTo>
                    <a:pt x="139700" y="279400"/>
                  </a:lnTo>
                  <a:cubicBezTo>
                    <a:pt x="62546" y="279400"/>
                    <a:pt x="0" y="216854"/>
                    <a:pt x="0" y="139700"/>
                  </a:cubicBezTo>
                  <a:lnTo>
                    <a:pt x="0" y="139700"/>
                  </a:lnTo>
                  <a:cubicBezTo>
                    <a:pt x="0" y="62546"/>
                    <a:pt x="62546" y="0"/>
                    <a:pt x="139700" y="0"/>
                  </a:cubicBezTo>
                  <a:close/>
                </a:path>
              </a:pathLst>
            </a:custGeom>
            <a:solidFill>
              <a:srgbClr val="3A3A3A"/>
            </a:solidFill>
            <a:ln cap="rnd">
              <a:noFill/>
              <a:prstDash val="solid"/>
              <a:round/>
            </a:ln>
          </p:spPr>
        </p:sp>
        <p:sp>
          <p:nvSpPr>
            <p:cNvPr id="22" name="TextBox 22"/>
            <p:cNvSpPr txBox="1"/>
            <p:nvPr/>
          </p:nvSpPr>
          <p:spPr>
            <a:xfrm>
              <a:off x="0" y="-38100"/>
              <a:ext cx="1651000" cy="317500"/>
            </a:xfrm>
            <a:prstGeom prst="rect">
              <a:avLst/>
            </a:prstGeom>
          </p:spPr>
          <p:txBody>
            <a:bodyPr lIns="50800" tIns="50800" rIns="50800" bIns="50800" rtlCol="0" anchor="ctr"/>
            <a:lstStyle/>
            <a:p>
              <a:pPr algn="l">
                <a:lnSpc>
                  <a:spcPts val="1679"/>
                </a:lnSpc>
              </a:pPr>
              <a:endParaRPr/>
            </a:p>
          </p:txBody>
        </p:sp>
      </p:grpSp>
      <p:sp>
        <p:nvSpPr>
          <p:cNvPr id="32" name="Title 31">
            <a:extLst>
              <a:ext uri="{FF2B5EF4-FFF2-40B4-BE49-F238E27FC236}">
                <a16:creationId xmlns:a16="http://schemas.microsoft.com/office/drawing/2014/main" id="{80691EB8-F4E0-30B0-FC5A-78EEBB63D9F3}"/>
              </a:ext>
            </a:extLst>
          </p:cNvPr>
          <p:cNvSpPr>
            <a:spLocks noGrp="1"/>
          </p:cNvSpPr>
          <p:nvPr>
            <p:ph type="ctrTitle"/>
          </p:nvPr>
        </p:nvSpPr>
        <p:spPr>
          <a:xfrm>
            <a:off x="1981200" y="2358859"/>
            <a:ext cx="13449300" cy="5159705"/>
          </a:xfrm>
        </p:spPr>
        <p:txBody>
          <a:bodyPr>
            <a:normAutofit/>
          </a:bodyPr>
          <a:lstStyle/>
          <a:p>
            <a:r>
              <a:rPr lang="vi-VN" sz="5400" b="1" u="none" strike="noStrike" dirty="0">
                <a:effectLst/>
                <a:latin typeface="Google Sans"/>
              </a:rPr>
              <a:t>BÁO CÁO KẾT QUẢ KHẢO SÁT THỰC TẾ VỀ MỘT SỐ BỆNH ĐƯỜNG TIÊU HOÁ VÀ VẤN ĐỀ VỆ SINH AN TOÀN THỰC PHẨM TẠI ĐỊA PHƯƠNG</a:t>
            </a:r>
            <a:br>
              <a:rPr lang="vi-VN" dirty="0"/>
            </a:br>
            <a:endParaRPr lang="en-US" dirty="0"/>
          </a:p>
        </p:txBody>
      </p:sp>
      <p:sp>
        <p:nvSpPr>
          <p:cNvPr id="33" name="Subtitle 32">
            <a:extLst>
              <a:ext uri="{FF2B5EF4-FFF2-40B4-BE49-F238E27FC236}">
                <a16:creationId xmlns:a16="http://schemas.microsoft.com/office/drawing/2014/main" id="{B2CDEF36-A3DF-16B7-4264-1A964F523022}"/>
              </a:ext>
            </a:extLst>
          </p:cNvPr>
          <p:cNvSpPr>
            <a:spLocks noGrp="1"/>
          </p:cNvSpPr>
          <p:nvPr>
            <p:ph type="subTitle" idx="1"/>
          </p:nvPr>
        </p:nvSpPr>
        <p:spPr>
          <a:xfrm>
            <a:off x="4117519" y="8115300"/>
            <a:ext cx="9674681" cy="1057274"/>
          </a:xfrm>
        </p:spPr>
        <p:txBody>
          <a:bodyPr/>
          <a:lstStyle/>
          <a:p>
            <a:r>
              <a:rPr lang="en-US" b="1" dirty="0" err="1">
                <a:latin typeface="Times New Roman" panose="02020603050405020304" pitchFamily="18" charset="0"/>
                <a:cs typeface="Times New Roman" panose="02020603050405020304" pitchFamily="18" charset="0"/>
              </a:rPr>
              <a:t>Tổ</a:t>
            </a:r>
            <a:r>
              <a:rPr lang="en-US" b="1" dirty="0">
                <a:latin typeface="Times New Roman" panose="02020603050405020304" pitchFamily="18" charset="0"/>
                <a:cs typeface="Times New Roman" panose="02020603050405020304" pitchFamily="18" charset="0"/>
              </a:rPr>
              <a:t> 1</a:t>
            </a:r>
          </a:p>
        </p:txBody>
      </p:sp>
      <p:sp>
        <p:nvSpPr>
          <p:cNvPr id="34" name="Freeform 6">
            <a:extLst>
              <a:ext uri="{FF2B5EF4-FFF2-40B4-BE49-F238E27FC236}">
                <a16:creationId xmlns:a16="http://schemas.microsoft.com/office/drawing/2014/main" id="{88BE5C89-F799-1B90-8F02-A99207815850}"/>
              </a:ext>
            </a:extLst>
          </p:cNvPr>
          <p:cNvSpPr/>
          <p:nvPr/>
        </p:nvSpPr>
        <p:spPr>
          <a:xfrm>
            <a:off x="16764000" y="294239"/>
            <a:ext cx="1237661" cy="1583223"/>
          </a:xfrm>
          <a:custGeom>
            <a:avLst/>
            <a:gdLst/>
            <a:ahLst/>
            <a:cxnLst/>
            <a:rect l="l" t="t" r="r" b="b"/>
            <a:pathLst>
              <a:path w="1856876" h="2290147">
                <a:moveTo>
                  <a:pt x="0" y="0"/>
                </a:moveTo>
                <a:lnTo>
                  <a:pt x="1856876" y="0"/>
                </a:lnTo>
                <a:lnTo>
                  <a:pt x="1856876" y="2290147"/>
                </a:lnTo>
                <a:lnTo>
                  <a:pt x="0" y="2290147"/>
                </a:lnTo>
                <a:lnTo>
                  <a:pt x="0" y="0"/>
                </a:lnTo>
                <a:close/>
              </a:path>
            </a:pathLst>
          </a:custGeom>
          <a:blipFill>
            <a:blip r:embed="rId2"/>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9EFEE"/>
        </a:solidFill>
        <a:effectLst/>
      </p:bgPr>
    </p:bg>
    <p:spTree>
      <p:nvGrpSpPr>
        <p:cNvPr id="1" name=""/>
        <p:cNvGrpSpPr/>
        <p:nvPr/>
      </p:nvGrpSpPr>
      <p:grpSpPr>
        <a:xfrm>
          <a:off x="0" y="0"/>
          <a:ext cx="0" cy="0"/>
          <a:chOff x="0" y="0"/>
          <a:chExt cx="0" cy="0"/>
        </a:xfrm>
      </p:grpSpPr>
      <p:grpSp>
        <p:nvGrpSpPr>
          <p:cNvPr id="2" name="Group 2"/>
          <p:cNvGrpSpPr/>
          <p:nvPr/>
        </p:nvGrpSpPr>
        <p:grpSpPr>
          <a:xfrm>
            <a:off x="1047750" y="1607820"/>
            <a:ext cx="1143000" cy="57150"/>
            <a:chOff x="0" y="0"/>
            <a:chExt cx="1524000" cy="76200"/>
          </a:xfrm>
        </p:grpSpPr>
        <p:sp>
          <p:nvSpPr>
            <p:cNvPr id="3" name="Freeform 3"/>
            <p:cNvSpPr/>
            <p:nvPr/>
          </p:nvSpPr>
          <p:spPr>
            <a:xfrm>
              <a:off x="0" y="0"/>
              <a:ext cx="1524000" cy="76200"/>
            </a:xfrm>
            <a:custGeom>
              <a:avLst/>
              <a:gdLst/>
              <a:ahLst/>
              <a:cxnLst/>
              <a:rect l="l" t="t" r="r" b="b"/>
              <a:pathLst>
                <a:path w="1524000" h="76200">
                  <a:moveTo>
                    <a:pt x="38100" y="0"/>
                  </a:moveTo>
                  <a:lnTo>
                    <a:pt x="1485900" y="0"/>
                  </a:lnTo>
                  <a:cubicBezTo>
                    <a:pt x="1506942" y="0"/>
                    <a:pt x="1524000" y="17058"/>
                    <a:pt x="1524000" y="38100"/>
                  </a:cubicBezTo>
                  <a:lnTo>
                    <a:pt x="1524000" y="38100"/>
                  </a:lnTo>
                  <a:cubicBezTo>
                    <a:pt x="1524000" y="59142"/>
                    <a:pt x="1506942" y="76200"/>
                    <a:pt x="1485900" y="76200"/>
                  </a:cubicBezTo>
                  <a:lnTo>
                    <a:pt x="38100" y="76200"/>
                  </a:lnTo>
                  <a:cubicBezTo>
                    <a:pt x="17058" y="76200"/>
                    <a:pt x="0" y="59142"/>
                    <a:pt x="0" y="38100"/>
                  </a:cubicBezTo>
                  <a:lnTo>
                    <a:pt x="0" y="38100"/>
                  </a:lnTo>
                  <a:cubicBezTo>
                    <a:pt x="0" y="17058"/>
                    <a:pt x="17058" y="0"/>
                    <a:pt x="38100" y="0"/>
                  </a:cubicBezTo>
                  <a:close/>
                </a:path>
              </a:pathLst>
            </a:custGeom>
            <a:solidFill>
              <a:srgbClr val="E26A8A"/>
            </a:solidFill>
            <a:ln cap="rnd">
              <a:noFill/>
              <a:prstDash val="solid"/>
              <a:round/>
            </a:ln>
          </p:spPr>
        </p:sp>
        <p:sp>
          <p:nvSpPr>
            <p:cNvPr id="4" name="TextBox 4"/>
            <p:cNvSpPr txBox="1"/>
            <p:nvPr/>
          </p:nvSpPr>
          <p:spPr>
            <a:xfrm>
              <a:off x="0" y="-38100"/>
              <a:ext cx="1524000" cy="114300"/>
            </a:xfrm>
            <a:prstGeom prst="rect">
              <a:avLst/>
            </a:prstGeom>
          </p:spPr>
          <p:txBody>
            <a:bodyPr lIns="50800" tIns="50800" rIns="50800" bIns="50800" rtlCol="0" anchor="ctr"/>
            <a:lstStyle/>
            <a:p>
              <a:pPr algn="l">
                <a:lnSpc>
                  <a:spcPts val="1679"/>
                </a:lnSpc>
              </a:pPr>
              <a:endParaRPr/>
            </a:p>
          </p:txBody>
        </p:sp>
      </p:grpSp>
      <p:sp>
        <p:nvSpPr>
          <p:cNvPr id="5" name="TextBox 5"/>
          <p:cNvSpPr txBox="1"/>
          <p:nvPr/>
        </p:nvSpPr>
        <p:spPr>
          <a:xfrm>
            <a:off x="1047750" y="704850"/>
            <a:ext cx="14287500" cy="741742"/>
          </a:xfrm>
          <a:prstGeom prst="rect">
            <a:avLst/>
          </a:prstGeom>
        </p:spPr>
        <p:txBody>
          <a:bodyPr lIns="0" tIns="0" rIns="0" bIns="0" rtlCol="0" anchor="t">
            <a:spAutoFit/>
          </a:bodyPr>
          <a:lstStyle/>
          <a:p>
            <a:pPr algn="l">
              <a:lnSpc>
                <a:spcPts val="5610"/>
              </a:lnSpc>
            </a:pPr>
            <a:r>
              <a:rPr lang="en-US" sz="6000" dirty="0" err="1">
                <a:solidFill>
                  <a:srgbClr val="1F2A2E"/>
                </a:solidFill>
                <a:latin typeface="Baloo"/>
                <a:ea typeface="Baloo"/>
                <a:cs typeface="Baloo"/>
                <a:sym typeface="Baloo"/>
              </a:rPr>
              <a:t>Giới</a:t>
            </a:r>
            <a:r>
              <a:rPr lang="en-US" sz="6000" dirty="0">
                <a:solidFill>
                  <a:srgbClr val="1F2A2E"/>
                </a:solidFill>
                <a:latin typeface="Baloo"/>
                <a:ea typeface="Baloo"/>
                <a:cs typeface="Baloo"/>
                <a:sym typeface="Baloo"/>
              </a:rPr>
              <a:t> </a:t>
            </a:r>
            <a:r>
              <a:rPr lang="en-US" sz="6000" dirty="0" err="1">
                <a:solidFill>
                  <a:srgbClr val="1F2A2E"/>
                </a:solidFill>
                <a:latin typeface="Baloo"/>
                <a:ea typeface="Baloo"/>
                <a:cs typeface="Baloo"/>
                <a:sym typeface="Baloo"/>
              </a:rPr>
              <a:t>Thiệu</a:t>
            </a:r>
            <a:endParaRPr lang="en-US" sz="6000" dirty="0">
              <a:solidFill>
                <a:srgbClr val="1F2A2E"/>
              </a:solidFill>
              <a:latin typeface="Baloo"/>
              <a:ea typeface="Baloo"/>
              <a:cs typeface="Baloo"/>
              <a:sym typeface="Baloo"/>
            </a:endParaRPr>
          </a:p>
        </p:txBody>
      </p:sp>
      <p:grpSp>
        <p:nvGrpSpPr>
          <p:cNvPr id="6" name="Group 6"/>
          <p:cNvGrpSpPr/>
          <p:nvPr/>
        </p:nvGrpSpPr>
        <p:grpSpPr>
          <a:xfrm>
            <a:off x="1047750" y="2476500"/>
            <a:ext cx="16192500" cy="7048500"/>
            <a:chOff x="0" y="0"/>
            <a:chExt cx="21590000" cy="9398000"/>
          </a:xfrm>
        </p:grpSpPr>
        <p:sp>
          <p:nvSpPr>
            <p:cNvPr id="7" name="Freeform 7"/>
            <p:cNvSpPr/>
            <p:nvPr/>
          </p:nvSpPr>
          <p:spPr>
            <a:xfrm>
              <a:off x="0" y="0"/>
              <a:ext cx="21590000" cy="9398000"/>
            </a:xfrm>
            <a:custGeom>
              <a:avLst/>
              <a:gdLst/>
              <a:ahLst/>
              <a:cxnLst/>
              <a:rect l="l" t="t" r="r" b="b"/>
              <a:pathLst>
                <a:path w="21590000" h="9398000">
                  <a:moveTo>
                    <a:pt x="44824" y="0"/>
                  </a:moveTo>
                  <a:lnTo>
                    <a:pt x="21545176" y="0"/>
                  </a:lnTo>
                  <a:cubicBezTo>
                    <a:pt x="21557064" y="0"/>
                    <a:pt x="21568465" y="4722"/>
                    <a:pt x="21576872" y="13129"/>
                  </a:cubicBezTo>
                  <a:cubicBezTo>
                    <a:pt x="21585278" y="21535"/>
                    <a:pt x="21590000" y="32936"/>
                    <a:pt x="21590000" y="44824"/>
                  </a:cubicBezTo>
                  <a:lnTo>
                    <a:pt x="21590000" y="9353176"/>
                  </a:lnTo>
                  <a:cubicBezTo>
                    <a:pt x="21590000" y="9365065"/>
                    <a:pt x="21585278" y="9376466"/>
                    <a:pt x="21576872" y="9384871"/>
                  </a:cubicBezTo>
                  <a:cubicBezTo>
                    <a:pt x="21568465" y="9393278"/>
                    <a:pt x="21557064" y="9398000"/>
                    <a:pt x="21545176" y="9398000"/>
                  </a:cubicBezTo>
                  <a:lnTo>
                    <a:pt x="44824" y="9398000"/>
                  </a:lnTo>
                  <a:cubicBezTo>
                    <a:pt x="32936" y="9398000"/>
                    <a:pt x="21535" y="9393278"/>
                    <a:pt x="13129" y="9384871"/>
                  </a:cubicBezTo>
                  <a:cubicBezTo>
                    <a:pt x="4722" y="9376466"/>
                    <a:pt x="0" y="9365065"/>
                    <a:pt x="0" y="9353176"/>
                  </a:cubicBezTo>
                  <a:lnTo>
                    <a:pt x="0" y="44824"/>
                  </a:lnTo>
                  <a:cubicBezTo>
                    <a:pt x="0" y="32936"/>
                    <a:pt x="4722" y="21535"/>
                    <a:pt x="13129" y="13129"/>
                  </a:cubicBezTo>
                  <a:cubicBezTo>
                    <a:pt x="21535" y="4722"/>
                    <a:pt x="32936" y="0"/>
                    <a:pt x="44824" y="0"/>
                  </a:cubicBezTo>
                  <a:close/>
                </a:path>
              </a:pathLst>
            </a:custGeom>
            <a:solidFill>
              <a:srgbClr val="FFFFFF"/>
            </a:solidFill>
            <a:ln w="19050" cap="rnd">
              <a:solidFill>
                <a:srgbClr val="3A3A3A"/>
              </a:solidFill>
              <a:prstDash val="solid"/>
              <a:round/>
            </a:ln>
          </p:spPr>
        </p:sp>
        <p:sp>
          <p:nvSpPr>
            <p:cNvPr id="8" name="TextBox 8"/>
            <p:cNvSpPr txBox="1"/>
            <p:nvPr/>
          </p:nvSpPr>
          <p:spPr>
            <a:xfrm>
              <a:off x="0" y="-133350"/>
              <a:ext cx="21590000" cy="9531350"/>
            </a:xfrm>
            <a:prstGeom prst="rect">
              <a:avLst/>
            </a:prstGeom>
          </p:spPr>
          <p:txBody>
            <a:bodyPr lIns="50800" tIns="50800" rIns="50800" bIns="50800" rtlCol="0" anchor="ctr"/>
            <a:lstStyle/>
            <a:p>
              <a:pPr algn="ctr">
                <a:lnSpc>
                  <a:spcPts val="7559"/>
                </a:lnSpc>
              </a:pPr>
              <a:r>
                <a:rPr lang="en-US" sz="5399">
                  <a:solidFill>
                    <a:srgbClr val="000000"/>
                  </a:solidFill>
                  <a:latin typeface="Arimo"/>
                  <a:ea typeface="Arimo"/>
                  <a:cs typeface="Arimo"/>
                  <a:sym typeface="Arimo"/>
                </a:rPr>
                <a:t>Điều tra và nghiên cứu sẽ cung cấp thông tin quan trọng để nâng cao ý thức về vệ sinh an toàn thực phẩm và phòng ngừa bệnh tật đường tiêu hoá.</a:t>
              </a:r>
            </a:p>
            <a:p>
              <a:pPr algn="l">
                <a:lnSpc>
                  <a:spcPts val="1679"/>
                </a:lnSpc>
              </a:pPr>
              <a:endParaRPr lang="en-US" sz="5399">
                <a:solidFill>
                  <a:srgbClr val="000000"/>
                </a:solidFill>
                <a:latin typeface="Arimo"/>
                <a:ea typeface="Arimo"/>
                <a:cs typeface="Arimo"/>
                <a:sym typeface="Arimo"/>
              </a:endParaRPr>
            </a:p>
            <a:p>
              <a:pPr algn="l">
                <a:lnSpc>
                  <a:spcPts val="1679"/>
                </a:lnSpc>
              </a:pPr>
              <a:endParaRPr lang="en-US" sz="5399">
                <a:solidFill>
                  <a:srgbClr val="000000"/>
                </a:solidFill>
                <a:latin typeface="Arimo"/>
                <a:ea typeface="Arimo"/>
                <a:cs typeface="Arimo"/>
                <a:sym typeface="Arimo"/>
              </a:endParaRPr>
            </a:p>
            <a:p>
              <a:pPr algn="l">
                <a:lnSpc>
                  <a:spcPts val="1679"/>
                </a:lnSpc>
              </a:pPr>
              <a:endParaRPr lang="en-US" sz="5399">
                <a:solidFill>
                  <a:srgbClr val="000000"/>
                </a:solidFill>
                <a:latin typeface="Arimo"/>
                <a:ea typeface="Arimo"/>
                <a:cs typeface="Arimo"/>
                <a:sym typeface="Arimo"/>
              </a:endParaRPr>
            </a:p>
            <a:p>
              <a:pPr algn="l">
                <a:lnSpc>
                  <a:spcPts val="1679"/>
                </a:lnSpc>
              </a:pPr>
              <a:endParaRPr lang="en-US" sz="5399">
                <a:solidFill>
                  <a:srgbClr val="000000"/>
                </a:solidFill>
                <a:latin typeface="Arimo"/>
                <a:ea typeface="Arimo"/>
                <a:cs typeface="Arimo"/>
                <a:sym typeface="Arim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9EFEE"/>
        </a:solidFill>
        <a:effectLst/>
      </p:bgPr>
    </p:bg>
    <p:spTree>
      <p:nvGrpSpPr>
        <p:cNvPr id="1" name=""/>
        <p:cNvGrpSpPr/>
        <p:nvPr/>
      </p:nvGrpSpPr>
      <p:grpSpPr>
        <a:xfrm>
          <a:off x="0" y="0"/>
          <a:ext cx="0" cy="0"/>
          <a:chOff x="0" y="0"/>
          <a:chExt cx="0" cy="0"/>
        </a:xfrm>
      </p:grpSpPr>
      <p:grpSp>
        <p:nvGrpSpPr>
          <p:cNvPr id="2" name="Group 2"/>
          <p:cNvGrpSpPr/>
          <p:nvPr/>
        </p:nvGrpSpPr>
        <p:grpSpPr>
          <a:xfrm>
            <a:off x="1047750" y="1607820"/>
            <a:ext cx="1143000" cy="57150"/>
            <a:chOff x="0" y="0"/>
            <a:chExt cx="1524000" cy="76200"/>
          </a:xfrm>
        </p:grpSpPr>
        <p:sp>
          <p:nvSpPr>
            <p:cNvPr id="3" name="Freeform 3"/>
            <p:cNvSpPr/>
            <p:nvPr/>
          </p:nvSpPr>
          <p:spPr>
            <a:xfrm>
              <a:off x="0" y="0"/>
              <a:ext cx="1524000" cy="76200"/>
            </a:xfrm>
            <a:custGeom>
              <a:avLst/>
              <a:gdLst/>
              <a:ahLst/>
              <a:cxnLst/>
              <a:rect l="l" t="t" r="r" b="b"/>
              <a:pathLst>
                <a:path w="1524000" h="76200">
                  <a:moveTo>
                    <a:pt x="38100" y="0"/>
                  </a:moveTo>
                  <a:lnTo>
                    <a:pt x="1485900" y="0"/>
                  </a:lnTo>
                  <a:cubicBezTo>
                    <a:pt x="1506942" y="0"/>
                    <a:pt x="1524000" y="17058"/>
                    <a:pt x="1524000" y="38100"/>
                  </a:cubicBezTo>
                  <a:lnTo>
                    <a:pt x="1524000" y="38100"/>
                  </a:lnTo>
                  <a:cubicBezTo>
                    <a:pt x="1524000" y="59142"/>
                    <a:pt x="1506942" y="76200"/>
                    <a:pt x="1485900" y="76200"/>
                  </a:cubicBezTo>
                  <a:lnTo>
                    <a:pt x="38100" y="76200"/>
                  </a:lnTo>
                  <a:cubicBezTo>
                    <a:pt x="17058" y="76200"/>
                    <a:pt x="0" y="59142"/>
                    <a:pt x="0" y="38100"/>
                  </a:cubicBezTo>
                  <a:lnTo>
                    <a:pt x="0" y="38100"/>
                  </a:lnTo>
                  <a:cubicBezTo>
                    <a:pt x="0" y="17058"/>
                    <a:pt x="17058" y="0"/>
                    <a:pt x="38100" y="0"/>
                  </a:cubicBezTo>
                  <a:close/>
                </a:path>
              </a:pathLst>
            </a:custGeom>
            <a:solidFill>
              <a:srgbClr val="E26A8A"/>
            </a:solidFill>
            <a:ln cap="rnd">
              <a:noFill/>
              <a:prstDash val="solid"/>
              <a:round/>
            </a:ln>
          </p:spPr>
        </p:sp>
        <p:sp>
          <p:nvSpPr>
            <p:cNvPr id="4" name="TextBox 4"/>
            <p:cNvSpPr txBox="1"/>
            <p:nvPr/>
          </p:nvSpPr>
          <p:spPr>
            <a:xfrm>
              <a:off x="0" y="-38100"/>
              <a:ext cx="1524000" cy="114300"/>
            </a:xfrm>
            <a:prstGeom prst="rect">
              <a:avLst/>
            </a:prstGeom>
          </p:spPr>
          <p:txBody>
            <a:bodyPr lIns="50800" tIns="50800" rIns="50800" bIns="50800" rtlCol="0" anchor="ctr"/>
            <a:lstStyle/>
            <a:p>
              <a:pPr algn="l">
                <a:lnSpc>
                  <a:spcPts val="1679"/>
                </a:lnSpc>
              </a:pPr>
              <a:endParaRPr/>
            </a:p>
          </p:txBody>
        </p:sp>
      </p:grpSp>
      <p:sp>
        <p:nvSpPr>
          <p:cNvPr id="5" name="TextBox 5"/>
          <p:cNvSpPr txBox="1"/>
          <p:nvPr/>
        </p:nvSpPr>
        <p:spPr>
          <a:xfrm>
            <a:off x="1047750" y="704850"/>
            <a:ext cx="14287500" cy="731520"/>
          </a:xfrm>
          <a:prstGeom prst="rect">
            <a:avLst/>
          </a:prstGeom>
        </p:spPr>
        <p:txBody>
          <a:bodyPr lIns="0" tIns="0" rIns="0" bIns="0" rtlCol="0" anchor="t">
            <a:spAutoFit/>
          </a:bodyPr>
          <a:lstStyle/>
          <a:p>
            <a:pPr algn="l">
              <a:lnSpc>
                <a:spcPts val="5610"/>
              </a:lnSpc>
            </a:pPr>
            <a:r>
              <a:rPr lang="en-US" sz="5100">
                <a:solidFill>
                  <a:srgbClr val="1F2A2E"/>
                </a:solidFill>
                <a:latin typeface="Baloo"/>
                <a:ea typeface="Baloo"/>
                <a:cs typeface="Baloo"/>
                <a:sym typeface="Baloo"/>
              </a:rPr>
              <a:t>MỤC TIÊU KHẢO SÁT</a:t>
            </a:r>
          </a:p>
        </p:txBody>
      </p:sp>
      <p:grpSp>
        <p:nvGrpSpPr>
          <p:cNvPr id="6" name="Group 6"/>
          <p:cNvGrpSpPr/>
          <p:nvPr/>
        </p:nvGrpSpPr>
        <p:grpSpPr>
          <a:xfrm>
            <a:off x="1047750" y="2476500"/>
            <a:ext cx="10287000" cy="7048500"/>
            <a:chOff x="0" y="0"/>
            <a:chExt cx="13716000" cy="9398000"/>
          </a:xfrm>
        </p:grpSpPr>
        <p:sp>
          <p:nvSpPr>
            <p:cNvPr id="7" name="Freeform 7"/>
            <p:cNvSpPr/>
            <p:nvPr/>
          </p:nvSpPr>
          <p:spPr>
            <a:xfrm>
              <a:off x="0" y="0"/>
              <a:ext cx="13716000" cy="9398000"/>
            </a:xfrm>
            <a:custGeom>
              <a:avLst/>
              <a:gdLst/>
              <a:ahLst/>
              <a:cxnLst/>
              <a:rect l="l" t="t" r="r" b="b"/>
              <a:pathLst>
                <a:path w="13716000" h="9398000">
                  <a:moveTo>
                    <a:pt x="70556" y="0"/>
                  </a:moveTo>
                  <a:lnTo>
                    <a:pt x="13645445" y="0"/>
                  </a:lnTo>
                  <a:cubicBezTo>
                    <a:pt x="13684411" y="0"/>
                    <a:pt x="13716000" y="31589"/>
                    <a:pt x="13716000" y="70556"/>
                  </a:cubicBezTo>
                  <a:lnTo>
                    <a:pt x="13716000" y="9327445"/>
                  </a:lnTo>
                  <a:cubicBezTo>
                    <a:pt x="13716000" y="9366411"/>
                    <a:pt x="13684411" y="9398000"/>
                    <a:pt x="13645445" y="9398000"/>
                  </a:cubicBezTo>
                  <a:lnTo>
                    <a:pt x="70556" y="9398000"/>
                  </a:lnTo>
                  <a:cubicBezTo>
                    <a:pt x="31589" y="9398000"/>
                    <a:pt x="0" y="9366411"/>
                    <a:pt x="0" y="9327445"/>
                  </a:cubicBezTo>
                  <a:lnTo>
                    <a:pt x="0" y="70556"/>
                  </a:lnTo>
                  <a:cubicBezTo>
                    <a:pt x="0" y="31589"/>
                    <a:pt x="31589" y="0"/>
                    <a:pt x="70556" y="0"/>
                  </a:cubicBezTo>
                  <a:close/>
                </a:path>
              </a:pathLst>
            </a:custGeom>
            <a:solidFill>
              <a:srgbClr val="FFFFFF"/>
            </a:solidFill>
            <a:ln w="19050" cap="rnd">
              <a:solidFill>
                <a:srgbClr val="3A3A3A"/>
              </a:solidFill>
              <a:prstDash val="solid"/>
              <a:round/>
            </a:ln>
          </p:spPr>
        </p:sp>
        <p:sp>
          <p:nvSpPr>
            <p:cNvPr id="8" name="TextBox 8"/>
            <p:cNvSpPr txBox="1"/>
            <p:nvPr/>
          </p:nvSpPr>
          <p:spPr>
            <a:xfrm>
              <a:off x="0" y="-95250"/>
              <a:ext cx="13716000" cy="9493250"/>
            </a:xfrm>
            <a:prstGeom prst="rect">
              <a:avLst/>
            </a:prstGeom>
          </p:spPr>
          <p:txBody>
            <a:bodyPr lIns="50800" tIns="50800" rIns="50800" bIns="50800" rtlCol="0" anchor="ctr"/>
            <a:lstStyle/>
            <a:p>
              <a:pPr algn="ctr">
                <a:lnSpc>
                  <a:spcPts val="5319"/>
                </a:lnSpc>
              </a:pPr>
              <a:r>
                <a:rPr lang="en-US" sz="3799">
                  <a:solidFill>
                    <a:srgbClr val="000000"/>
                  </a:solidFill>
                  <a:latin typeface="Arimo"/>
                  <a:ea typeface="Arimo"/>
                  <a:cs typeface="Arimo"/>
                  <a:sym typeface="Arimo"/>
                </a:rPr>
                <a:t>Mục tiêu của nhóm là làm rõ tỉ lệ người dân mắc các bệnh tiêu hóa (như tiêu chảy, ngộ độc) tại Hưng Nguyên Nam. Đồng thời, chỉ ra các hành vi mất ATTP phổ biến và tìm ra mối liên hệ trực tiếp giữa thói quen ăn uống với các ca bệnh.</a:t>
              </a:r>
            </a:p>
          </p:txBody>
        </p:sp>
      </p:grpSp>
      <p:grpSp>
        <p:nvGrpSpPr>
          <p:cNvPr id="9" name="Group 9"/>
          <p:cNvGrpSpPr/>
          <p:nvPr/>
        </p:nvGrpSpPr>
        <p:grpSpPr>
          <a:xfrm>
            <a:off x="12763500" y="3810000"/>
            <a:ext cx="4191000" cy="4191000"/>
            <a:chOff x="0" y="0"/>
            <a:chExt cx="5588000" cy="5588000"/>
          </a:xfrm>
        </p:grpSpPr>
        <p:sp>
          <p:nvSpPr>
            <p:cNvPr id="10" name="Freeform 10"/>
            <p:cNvSpPr/>
            <p:nvPr/>
          </p:nvSpPr>
          <p:spPr>
            <a:xfrm>
              <a:off x="0" y="0"/>
              <a:ext cx="5588000" cy="5588000"/>
            </a:xfrm>
            <a:custGeom>
              <a:avLst/>
              <a:gdLst/>
              <a:ahLst/>
              <a:cxnLst/>
              <a:rect l="l" t="t" r="r" b="b"/>
              <a:pathLst>
                <a:path w="5588000" h="5588000">
                  <a:moveTo>
                    <a:pt x="2794000" y="0"/>
                  </a:moveTo>
                  <a:cubicBezTo>
                    <a:pt x="4337083" y="0"/>
                    <a:pt x="5588000" y="1250916"/>
                    <a:pt x="5588000" y="2794000"/>
                  </a:cubicBezTo>
                  <a:cubicBezTo>
                    <a:pt x="5588000" y="4337083"/>
                    <a:pt x="4337083" y="5588000"/>
                    <a:pt x="2794000" y="5588000"/>
                  </a:cubicBezTo>
                  <a:cubicBezTo>
                    <a:pt x="1250916" y="5588000"/>
                    <a:pt x="0" y="4337083"/>
                    <a:pt x="0" y="2794000"/>
                  </a:cubicBezTo>
                  <a:cubicBezTo>
                    <a:pt x="0" y="1250916"/>
                    <a:pt x="1250916" y="0"/>
                    <a:pt x="2794000" y="0"/>
                  </a:cubicBezTo>
                  <a:close/>
                </a:path>
              </a:pathLst>
            </a:custGeom>
            <a:solidFill>
              <a:srgbClr val="E26A8A"/>
            </a:solidFill>
            <a:ln w="19050" cap="sq">
              <a:solidFill>
                <a:srgbClr val="3A3A3A"/>
              </a:solidFill>
              <a:prstDash val="solid"/>
              <a:miter/>
            </a:ln>
          </p:spPr>
        </p:sp>
      </p:grpSp>
      <p:grpSp>
        <p:nvGrpSpPr>
          <p:cNvPr id="11" name="Group 11"/>
          <p:cNvGrpSpPr/>
          <p:nvPr/>
        </p:nvGrpSpPr>
        <p:grpSpPr>
          <a:xfrm>
            <a:off x="13287375" y="4333875"/>
            <a:ext cx="3143250" cy="3143250"/>
            <a:chOff x="0" y="0"/>
            <a:chExt cx="4191000" cy="4191000"/>
          </a:xfrm>
        </p:grpSpPr>
        <p:sp>
          <p:nvSpPr>
            <p:cNvPr id="12" name="Freeform 12"/>
            <p:cNvSpPr/>
            <p:nvPr/>
          </p:nvSpPr>
          <p:spPr>
            <a:xfrm>
              <a:off x="0" y="0"/>
              <a:ext cx="4191000" cy="4191000"/>
            </a:xfrm>
            <a:custGeom>
              <a:avLst/>
              <a:gdLst/>
              <a:ahLst/>
              <a:cxnLst/>
              <a:rect l="l" t="t" r="r" b="b"/>
              <a:pathLst>
                <a:path w="4191000" h="4191000">
                  <a:moveTo>
                    <a:pt x="2095500" y="0"/>
                  </a:moveTo>
                  <a:cubicBezTo>
                    <a:pt x="3252813" y="0"/>
                    <a:pt x="4191000" y="938187"/>
                    <a:pt x="4191000" y="2095500"/>
                  </a:cubicBezTo>
                  <a:cubicBezTo>
                    <a:pt x="4191000" y="3252813"/>
                    <a:pt x="3252813" y="4191000"/>
                    <a:pt x="2095500" y="4191000"/>
                  </a:cubicBezTo>
                  <a:cubicBezTo>
                    <a:pt x="938187" y="4191000"/>
                    <a:pt x="0" y="3252813"/>
                    <a:pt x="0" y="2095500"/>
                  </a:cubicBezTo>
                  <a:cubicBezTo>
                    <a:pt x="0" y="938187"/>
                    <a:pt x="938187" y="0"/>
                    <a:pt x="2095500" y="0"/>
                  </a:cubicBezTo>
                  <a:close/>
                </a:path>
              </a:pathLst>
            </a:custGeom>
            <a:solidFill>
              <a:srgbClr val="FFFFFF"/>
            </a:solidFill>
            <a:ln w="19050" cap="sq">
              <a:solidFill>
                <a:srgbClr val="3A3A3A"/>
              </a:solidFill>
              <a:prstDash val="solid"/>
              <a:miter/>
            </a:ln>
          </p:spPr>
        </p:sp>
      </p:grpSp>
      <p:grpSp>
        <p:nvGrpSpPr>
          <p:cNvPr id="13" name="Group 13"/>
          <p:cNvGrpSpPr/>
          <p:nvPr/>
        </p:nvGrpSpPr>
        <p:grpSpPr>
          <a:xfrm>
            <a:off x="13811250" y="4857750"/>
            <a:ext cx="2095500" cy="2095500"/>
            <a:chOff x="0" y="0"/>
            <a:chExt cx="2794000" cy="2794000"/>
          </a:xfrm>
        </p:grpSpPr>
        <p:sp>
          <p:nvSpPr>
            <p:cNvPr id="14" name="Freeform 14"/>
            <p:cNvSpPr/>
            <p:nvPr/>
          </p:nvSpPr>
          <p:spPr>
            <a:xfrm>
              <a:off x="0" y="0"/>
              <a:ext cx="2794000" cy="2794000"/>
            </a:xfrm>
            <a:custGeom>
              <a:avLst/>
              <a:gdLst/>
              <a:ahLst/>
              <a:cxnLst/>
              <a:rect l="l" t="t" r="r" b="b"/>
              <a:pathLst>
                <a:path w="2794000" h="2794000">
                  <a:moveTo>
                    <a:pt x="1397000" y="0"/>
                  </a:moveTo>
                  <a:cubicBezTo>
                    <a:pt x="2168542" y="0"/>
                    <a:pt x="2794000" y="625458"/>
                    <a:pt x="2794000" y="1397000"/>
                  </a:cubicBezTo>
                  <a:cubicBezTo>
                    <a:pt x="2794000" y="2168542"/>
                    <a:pt x="2168542" y="2794000"/>
                    <a:pt x="1397000" y="2794000"/>
                  </a:cubicBezTo>
                  <a:cubicBezTo>
                    <a:pt x="625458" y="2794000"/>
                    <a:pt x="0" y="2168542"/>
                    <a:pt x="0" y="1397000"/>
                  </a:cubicBezTo>
                  <a:cubicBezTo>
                    <a:pt x="0" y="625458"/>
                    <a:pt x="625458" y="0"/>
                    <a:pt x="1397000" y="0"/>
                  </a:cubicBezTo>
                  <a:close/>
                </a:path>
              </a:pathLst>
            </a:custGeom>
            <a:solidFill>
              <a:srgbClr val="E26A8A"/>
            </a:solidFill>
            <a:ln w="19050" cap="sq">
              <a:solidFill>
                <a:srgbClr val="3A3A3A"/>
              </a:solidFill>
              <a:prstDash val="solid"/>
              <a:miter/>
            </a:ln>
          </p:spPr>
        </p:sp>
      </p:grpSp>
      <p:grpSp>
        <p:nvGrpSpPr>
          <p:cNvPr id="15" name="Group 15"/>
          <p:cNvGrpSpPr/>
          <p:nvPr/>
        </p:nvGrpSpPr>
        <p:grpSpPr>
          <a:xfrm>
            <a:off x="14335125" y="5381625"/>
            <a:ext cx="1047750" cy="1047750"/>
            <a:chOff x="0" y="0"/>
            <a:chExt cx="1397000" cy="1397000"/>
          </a:xfrm>
        </p:grpSpPr>
        <p:sp>
          <p:nvSpPr>
            <p:cNvPr id="16" name="Freeform 16"/>
            <p:cNvSpPr/>
            <p:nvPr/>
          </p:nvSpPr>
          <p:spPr>
            <a:xfrm>
              <a:off x="0" y="0"/>
              <a:ext cx="1397000" cy="1397000"/>
            </a:xfrm>
            <a:custGeom>
              <a:avLst/>
              <a:gdLst/>
              <a:ahLst/>
              <a:cxnLst/>
              <a:rect l="l" t="t" r="r" b="b"/>
              <a:pathLst>
                <a:path w="1397000" h="1397000">
                  <a:moveTo>
                    <a:pt x="698500" y="0"/>
                  </a:moveTo>
                  <a:cubicBezTo>
                    <a:pt x="1084271" y="0"/>
                    <a:pt x="1397000" y="312729"/>
                    <a:pt x="1397000" y="698500"/>
                  </a:cubicBezTo>
                  <a:cubicBezTo>
                    <a:pt x="1397000" y="1084271"/>
                    <a:pt x="1084271" y="1397000"/>
                    <a:pt x="698500" y="1397000"/>
                  </a:cubicBezTo>
                  <a:cubicBezTo>
                    <a:pt x="312729" y="1397000"/>
                    <a:pt x="0" y="1084271"/>
                    <a:pt x="0" y="698500"/>
                  </a:cubicBezTo>
                  <a:cubicBezTo>
                    <a:pt x="0" y="312729"/>
                    <a:pt x="312729" y="0"/>
                    <a:pt x="698500" y="0"/>
                  </a:cubicBezTo>
                  <a:close/>
                </a:path>
              </a:pathLst>
            </a:custGeom>
            <a:solidFill>
              <a:srgbClr val="FFFFFF"/>
            </a:solidFill>
            <a:ln w="19050" cap="sq">
              <a:solidFill>
                <a:srgbClr val="3A3A3A"/>
              </a:solidFill>
              <a:prstDash val="solid"/>
              <a:miter/>
            </a:ln>
          </p:spPr>
        </p:sp>
      </p:grpSp>
      <p:sp>
        <p:nvSpPr>
          <p:cNvPr id="17" name="AutoShape 17"/>
          <p:cNvSpPr/>
          <p:nvPr/>
        </p:nvSpPr>
        <p:spPr>
          <a:xfrm flipH="1">
            <a:off x="15049500" y="4000500"/>
            <a:ext cx="1524000" cy="1714500"/>
          </a:xfrm>
          <a:prstGeom prst="line">
            <a:avLst/>
          </a:prstGeom>
          <a:ln w="57150" cap="rnd">
            <a:solidFill>
              <a:srgbClr val="3A3A3A"/>
            </a:solidFill>
            <a:prstDash val="solid"/>
            <a:headEnd type="none" w="sm" len="sm"/>
            <a:tailEnd type="none" w="sm" len="sm"/>
          </a:ln>
        </p:spPr>
      </p:sp>
      <p:grpSp>
        <p:nvGrpSpPr>
          <p:cNvPr id="18" name="Group 18"/>
          <p:cNvGrpSpPr/>
          <p:nvPr/>
        </p:nvGrpSpPr>
        <p:grpSpPr>
          <a:xfrm>
            <a:off x="14935200" y="5600700"/>
            <a:ext cx="228600" cy="228600"/>
            <a:chOff x="0" y="0"/>
            <a:chExt cx="304800" cy="304800"/>
          </a:xfrm>
        </p:grpSpPr>
        <p:sp>
          <p:nvSpPr>
            <p:cNvPr id="19" name="Freeform 19"/>
            <p:cNvSpPr/>
            <p:nvPr/>
          </p:nvSpPr>
          <p:spPr>
            <a:xfrm>
              <a:off x="0" y="0"/>
              <a:ext cx="304800" cy="304800"/>
            </a:xfrm>
            <a:custGeom>
              <a:avLst/>
              <a:gdLst/>
              <a:ahLst/>
              <a:cxnLst/>
              <a:rect l="l" t="t" r="r" b="b"/>
              <a:pathLst>
                <a:path w="304800" h="304800">
                  <a:moveTo>
                    <a:pt x="152400" y="0"/>
                  </a:moveTo>
                  <a:cubicBezTo>
                    <a:pt x="236568" y="0"/>
                    <a:pt x="304800" y="68232"/>
                    <a:pt x="304800" y="152400"/>
                  </a:cubicBezTo>
                  <a:cubicBezTo>
                    <a:pt x="304800" y="236568"/>
                    <a:pt x="236568" y="304800"/>
                    <a:pt x="152400" y="304800"/>
                  </a:cubicBezTo>
                  <a:cubicBezTo>
                    <a:pt x="68232" y="304800"/>
                    <a:pt x="0" y="236568"/>
                    <a:pt x="0" y="152400"/>
                  </a:cubicBezTo>
                  <a:cubicBezTo>
                    <a:pt x="0" y="68232"/>
                    <a:pt x="68232" y="0"/>
                    <a:pt x="152400" y="0"/>
                  </a:cubicBezTo>
                  <a:close/>
                </a:path>
              </a:pathLst>
            </a:custGeom>
            <a:solidFill>
              <a:srgbClr val="3A3A3A"/>
            </a:solidFill>
            <a:ln cap="sq">
              <a:noFill/>
              <a:prstDash val="solid"/>
              <a:miter/>
            </a:ln>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EFEE"/>
        </a:solidFill>
        <a:effectLst/>
      </p:bgPr>
    </p:bg>
    <p:spTree>
      <p:nvGrpSpPr>
        <p:cNvPr id="1" name=""/>
        <p:cNvGrpSpPr/>
        <p:nvPr/>
      </p:nvGrpSpPr>
      <p:grpSpPr>
        <a:xfrm>
          <a:off x="0" y="0"/>
          <a:ext cx="0" cy="0"/>
          <a:chOff x="0" y="0"/>
          <a:chExt cx="0" cy="0"/>
        </a:xfrm>
      </p:grpSpPr>
      <p:grpSp>
        <p:nvGrpSpPr>
          <p:cNvPr id="2" name="Group 2"/>
          <p:cNvGrpSpPr/>
          <p:nvPr/>
        </p:nvGrpSpPr>
        <p:grpSpPr>
          <a:xfrm>
            <a:off x="1047750" y="1607820"/>
            <a:ext cx="1143000" cy="57150"/>
            <a:chOff x="0" y="0"/>
            <a:chExt cx="1524000" cy="76200"/>
          </a:xfrm>
        </p:grpSpPr>
        <p:sp>
          <p:nvSpPr>
            <p:cNvPr id="3" name="Freeform 3"/>
            <p:cNvSpPr/>
            <p:nvPr/>
          </p:nvSpPr>
          <p:spPr>
            <a:xfrm>
              <a:off x="0" y="0"/>
              <a:ext cx="1524000" cy="76200"/>
            </a:xfrm>
            <a:custGeom>
              <a:avLst/>
              <a:gdLst/>
              <a:ahLst/>
              <a:cxnLst/>
              <a:rect l="l" t="t" r="r" b="b"/>
              <a:pathLst>
                <a:path w="1524000" h="76200">
                  <a:moveTo>
                    <a:pt x="38100" y="0"/>
                  </a:moveTo>
                  <a:lnTo>
                    <a:pt x="1485900" y="0"/>
                  </a:lnTo>
                  <a:cubicBezTo>
                    <a:pt x="1506942" y="0"/>
                    <a:pt x="1524000" y="17058"/>
                    <a:pt x="1524000" y="38100"/>
                  </a:cubicBezTo>
                  <a:lnTo>
                    <a:pt x="1524000" y="38100"/>
                  </a:lnTo>
                  <a:cubicBezTo>
                    <a:pt x="1524000" y="59142"/>
                    <a:pt x="1506942" y="76200"/>
                    <a:pt x="1485900" y="76200"/>
                  </a:cubicBezTo>
                  <a:lnTo>
                    <a:pt x="38100" y="76200"/>
                  </a:lnTo>
                  <a:cubicBezTo>
                    <a:pt x="17058" y="76200"/>
                    <a:pt x="0" y="59142"/>
                    <a:pt x="0" y="38100"/>
                  </a:cubicBezTo>
                  <a:lnTo>
                    <a:pt x="0" y="38100"/>
                  </a:lnTo>
                  <a:cubicBezTo>
                    <a:pt x="0" y="17058"/>
                    <a:pt x="17058" y="0"/>
                    <a:pt x="38100" y="0"/>
                  </a:cubicBezTo>
                  <a:close/>
                </a:path>
              </a:pathLst>
            </a:custGeom>
            <a:solidFill>
              <a:srgbClr val="E26A8A"/>
            </a:solidFill>
            <a:ln cap="rnd">
              <a:noFill/>
              <a:prstDash val="solid"/>
              <a:round/>
            </a:ln>
          </p:spPr>
        </p:sp>
        <p:sp>
          <p:nvSpPr>
            <p:cNvPr id="4" name="TextBox 4"/>
            <p:cNvSpPr txBox="1"/>
            <p:nvPr/>
          </p:nvSpPr>
          <p:spPr>
            <a:xfrm>
              <a:off x="0" y="-38100"/>
              <a:ext cx="1524000" cy="114300"/>
            </a:xfrm>
            <a:prstGeom prst="rect">
              <a:avLst/>
            </a:prstGeom>
          </p:spPr>
          <p:txBody>
            <a:bodyPr lIns="50800" tIns="50800" rIns="50800" bIns="50800" rtlCol="0" anchor="ctr"/>
            <a:lstStyle/>
            <a:p>
              <a:pPr algn="l">
                <a:lnSpc>
                  <a:spcPts val="1679"/>
                </a:lnSpc>
              </a:pPr>
              <a:endParaRPr/>
            </a:p>
          </p:txBody>
        </p:sp>
      </p:grpSp>
      <p:sp>
        <p:nvSpPr>
          <p:cNvPr id="5" name="TextBox 5"/>
          <p:cNvSpPr txBox="1"/>
          <p:nvPr/>
        </p:nvSpPr>
        <p:spPr>
          <a:xfrm>
            <a:off x="1047750" y="704850"/>
            <a:ext cx="14287500" cy="731520"/>
          </a:xfrm>
          <a:prstGeom prst="rect">
            <a:avLst/>
          </a:prstGeom>
        </p:spPr>
        <p:txBody>
          <a:bodyPr lIns="0" tIns="0" rIns="0" bIns="0" rtlCol="0" anchor="t">
            <a:spAutoFit/>
          </a:bodyPr>
          <a:lstStyle/>
          <a:p>
            <a:pPr algn="l">
              <a:lnSpc>
                <a:spcPts val="5610"/>
              </a:lnSpc>
            </a:pPr>
            <a:r>
              <a:rPr lang="en-US" sz="5100">
                <a:solidFill>
                  <a:srgbClr val="1F2A2E"/>
                </a:solidFill>
                <a:latin typeface="Baloo"/>
                <a:ea typeface="Baloo"/>
                <a:cs typeface="Baloo"/>
                <a:sym typeface="Baloo"/>
              </a:rPr>
              <a:t>PHƯƠNG PHÁP</a:t>
            </a:r>
          </a:p>
        </p:txBody>
      </p:sp>
      <p:grpSp>
        <p:nvGrpSpPr>
          <p:cNvPr id="6" name="Group 6"/>
          <p:cNvGrpSpPr/>
          <p:nvPr/>
        </p:nvGrpSpPr>
        <p:grpSpPr>
          <a:xfrm>
            <a:off x="1047750" y="2476500"/>
            <a:ext cx="13632684" cy="7048500"/>
            <a:chOff x="0" y="0"/>
            <a:chExt cx="18176912" cy="9398000"/>
          </a:xfrm>
        </p:grpSpPr>
        <p:sp>
          <p:nvSpPr>
            <p:cNvPr id="7" name="Freeform 7"/>
            <p:cNvSpPr/>
            <p:nvPr/>
          </p:nvSpPr>
          <p:spPr>
            <a:xfrm>
              <a:off x="0" y="0"/>
              <a:ext cx="18176912" cy="9398000"/>
            </a:xfrm>
            <a:custGeom>
              <a:avLst/>
              <a:gdLst/>
              <a:ahLst/>
              <a:cxnLst/>
              <a:rect l="l" t="t" r="r" b="b"/>
              <a:pathLst>
                <a:path w="18176912" h="9398000">
                  <a:moveTo>
                    <a:pt x="53240" y="0"/>
                  </a:moveTo>
                  <a:lnTo>
                    <a:pt x="18123672" y="0"/>
                  </a:lnTo>
                  <a:cubicBezTo>
                    <a:pt x="18137792" y="0"/>
                    <a:pt x="18151334" y="5609"/>
                    <a:pt x="18161319" y="15594"/>
                  </a:cubicBezTo>
                  <a:cubicBezTo>
                    <a:pt x="18171303" y="25578"/>
                    <a:pt x="18176912" y="39120"/>
                    <a:pt x="18176912" y="53240"/>
                  </a:cubicBezTo>
                  <a:lnTo>
                    <a:pt x="18176912" y="9344760"/>
                  </a:lnTo>
                  <a:cubicBezTo>
                    <a:pt x="18176912" y="9374163"/>
                    <a:pt x="18153076" y="9398000"/>
                    <a:pt x="18123672" y="9398000"/>
                  </a:cubicBezTo>
                  <a:lnTo>
                    <a:pt x="53240" y="9398000"/>
                  </a:lnTo>
                  <a:cubicBezTo>
                    <a:pt x="39120" y="9398000"/>
                    <a:pt x="25578" y="9392391"/>
                    <a:pt x="15594" y="9382406"/>
                  </a:cubicBezTo>
                  <a:cubicBezTo>
                    <a:pt x="5609" y="9372422"/>
                    <a:pt x="0" y="9358880"/>
                    <a:pt x="0" y="9344760"/>
                  </a:cubicBezTo>
                  <a:lnTo>
                    <a:pt x="0" y="53240"/>
                  </a:lnTo>
                  <a:cubicBezTo>
                    <a:pt x="0" y="39120"/>
                    <a:pt x="5609" y="25578"/>
                    <a:pt x="15594" y="15594"/>
                  </a:cubicBezTo>
                  <a:cubicBezTo>
                    <a:pt x="25578" y="5609"/>
                    <a:pt x="39120" y="0"/>
                    <a:pt x="53240" y="0"/>
                  </a:cubicBezTo>
                  <a:close/>
                </a:path>
              </a:pathLst>
            </a:custGeom>
            <a:solidFill>
              <a:srgbClr val="FFFFFF"/>
            </a:solidFill>
            <a:ln w="19050" cap="rnd">
              <a:solidFill>
                <a:srgbClr val="3A3A3A"/>
              </a:solidFill>
              <a:prstDash val="solid"/>
              <a:round/>
            </a:ln>
          </p:spPr>
        </p:sp>
        <p:sp>
          <p:nvSpPr>
            <p:cNvPr id="8" name="TextBox 8"/>
            <p:cNvSpPr txBox="1"/>
            <p:nvPr/>
          </p:nvSpPr>
          <p:spPr>
            <a:xfrm>
              <a:off x="0" y="-85725"/>
              <a:ext cx="18176912" cy="9483725"/>
            </a:xfrm>
            <a:prstGeom prst="rect">
              <a:avLst/>
            </a:prstGeom>
          </p:spPr>
          <p:txBody>
            <a:bodyPr lIns="50800" tIns="50800" rIns="50800" bIns="50800" rtlCol="0" anchor="ctr"/>
            <a:lstStyle/>
            <a:p>
              <a:pPr algn="ctr">
                <a:lnSpc>
                  <a:spcPts val="4479"/>
                </a:lnSpc>
              </a:pPr>
              <a:r>
                <a:rPr lang="en-US" sz="3199" b="1">
                  <a:solidFill>
                    <a:srgbClr val="000000"/>
                  </a:solidFill>
                  <a:latin typeface="Arimo Bold"/>
                  <a:ea typeface="Arimo Bold"/>
                  <a:cs typeface="Arimo Bold"/>
                  <a:sym typeface="Arimo Bold"/>
                </a:rPr>
                <a:t>Số lượng:</a:t>
              </a:r>
              <a:r>
                <a:rPr lang="en-US" sz="3199">
                  <a:solidFill>
                    <a:srgbClr val="000000"/>
                  </a:solidFill>
                  <a:latin typeface="Arimo"/>
                  <a:ea typeface="Arimo"/>
                  <a:cs typeface="Arimo"/>
                  <a:sym typeface="Arimo"/>
                </a:rPr>
                <a:t> Nhóm đã phát ra 30</a:t>
              </a:r>
              <a:r>
                <a:rPr lang="en-US" sz="3199" b="1">
                  <a:solidFill>
                    <a:srgbClr val="000000"/>
                  </a:solidFill>
                  <a:latin typeface="Arimo Bold"/>
                  <a:ea typeface="Arimo Bold"/>
                  <a:cs typeface="Arimo Bold"/>
                  <a:sym typeface="Arimo Bold"/>
                </a:rPr>
                <a:t> phiếu hỏi</a:t>
              </a:r>
              <a:r>
                <a:rPr lang="en-US" sz="3199">
                  <a:solidFill>
                    <a:srgbClr val="000000"/>
                  </a:solidFill>
                  <a:latin typeface="Arimo"/>
                  <a:ea typeface="Arimo"/>
                  <a:cs typeface="Arimo"/>
                  <a:sym typeface="Arimo"/>
                </a:rPr>
                <a:t> cho các hộ gia đình và phỏng vấn trực tiếp 3</a:t>
              </a:r>
              <a:r>
                <a:rPr lang="en-US" sz="3199" b="1">
                  <a:solidFill>
                    <a:srgbClr val="000000"/>
                  </a:solidFill>
                  <a:latin typeface="Arimo Bold"/>
                  <a:ea typeface="Arimo Bold"/>
                  <a:cs typeface="Arimo Bold"/>
                  <a:sym typeface="Arimo Bold"/>
                </a:rPr>
                <a:t> cán bộ y tế/địa phương</a:t>
              </a:r>
              <a:r>
                <a:rPr lang="en-US" sz="3199">
                  <a:solidFill>
                    <a:srgbClr val="000000"/>
                  </a:solidFill>
                  <a:latin typeface="Arimo"/>
                  <a:ea typeface="Arimo"/>
                  <a:cs typeface="Arimo"/>
                  <a:sym typeface="Arimo"/>
                </a:rPr>
                <a:t>.</a:t>
              </a:r>
            </a:p>
            <a:p>
              <a:pPr algn="ctr">
                <a:lnSpc>
                  <a:spcPts val="4759"/>
                </a:lnSpc>
              </a:pPr>
              <a:r>
                <a:rPr lang="en-US" sz="3399" b="1">
                  <a:solidFill>
                    <a:srgbClr val="000000"/>
                  </a:solidFill>
                  <a:latin typeface="Arimo Bold"/>
                  <a:ea typeface="Arimo Bold"/>
                  <a:cs typeface="Arimo Bold"/>
                  <a:sym typeface="Arimo Bold"/>
                </a:rPr>
                <a:t>Nội dung công cụ:</a:t>
              </a:r>
              <a:r>
                <a:rPr lang="en-US" sz="3399">
                  <a:solidFill>
                    <a:srgbClr val="000000"/>
                  </a:solidFill>
                  <a:latin typeface="Arimo"/>
                  <a:ea typeface="Arimo"/>
                  <a:cs typeface="Arimo"/>
                  <a:sym typeface="Arimo"/>
                </a:rPr>
                <a:t> Bộ câu hỏi tập trung vào thói quen mua sắm, nguồn nước sử dụng và lịch sử mắc bệnh tiêu hóa trong 6 tháng qua.</a:t>
              </a:r>
            </a:p>
            <a:p>
              <a:pPr algn="l">
                <a:lnSpc>
                  <a:spcPts val="3359"/>
                </a:lnSpc>
              </a:pPr>
              <a:endParaRPr lang="en-US" sz="3399">
                <a:solidFill>
                  <a:srgbClr val="000000"/>
                </a:solidFill>
                <a:latin typeface="Arimo"/>
                <a:ea typeface="Arimo"/>
                <a:cs typeface="Arimo"/>
                <a:sym typeface="Arimo"/>
              </a:endParaRPr>
            </a:p>
          </p:txBody>
        </p:sp>
      </p:grpSp>
      <p:grpSp>
        <p:nvGrpSpPr>
          <p:cNvPr id="9" name="Group 9"/>
          <p:cNvGrpSpPr/>
          <p:nvPr/>
        </p:nvGrpSpPr>
        <p:grpSpPr>
          <a:xfrm>
            <a:off x="15240000" y="3238500"/>
            <a:ext cx="2095500" cy="2857500"/>
            <a:chOff x="0" y="0"/>
            <a:chExt cx="2794000" cy="3810000"/>
          </a:xfrm>
        </p:grpSpPr>
        <p:sp>
          <p:nvSpPr>
            <p:cNvPr id="10" name="Freeform 10"/>
            <p:cNvSpPr/>
            <p:nvPr/>
          </p:nvSpPr>
          <p:spPr>
            <a:xfrm>
              <a:off x="0" y="0"/>
              <a:ext cx="2794000" cy="3810000"/>
            </a:xfrm>
            <a:custGeom>
              <a:avLst/>
              <a:gdLst/>
              <a:ahLst/>
              <a:cxnLst/>
              <a:rect l="l" t="t" r="r" b="b"/>
              <a:pathLst>
                <a:path w="2794000" h="3810000">
                  <a:moveTo>
                    <a:pt x="346364" y="0"/>
                  </a:moveTo>
                  <a:lnTo>
                    <a:pt x="2447636" y="0"/>
                  </a:lnTo>
                  <a:cubicBezTo>
                    <a:pt x="2539498" y="0"/>
                    <a:pt x="2627597" y="36492"/>
                    <a:pt x="2692553" y="101448"/>
                  </a:cubicBezTo>
                  <a:cubicBezTo>
                    <a:pt x="2757508" y="166403"/>
                    <a:pt x="2794000" y="254502"/>
                    <a:pt x="2794000" y="346364"/>
                  </a:cubicBezTo>
                  <a:lnTo>
                    <a:pt x="2794000" y="3463636"/>
                  </a:lnTo>
                  <a:cubicBezTo>
                    <a:pt x="2794000" y="3555498"/>
                    <a:pt x="2757508" y="3643597"/>
                    <a:pt x="2692553" y="3708552"/>
                  </a:cubicBezTo>
                  <a:cubicBezTo>
                    <a:pt x="2627597" y="3773508"/>
                    <a:pt x="2539498" y="3810000"/>
                    <a:pt x="2447636" y="3810000"/>
                  </a:cubicBezTo>
                  <a:lnTo>
                    <a:pt x="346364" y="3810000"/>
                  </a:lnTo>
                  <a:cubicBezTo>
                    <a:pt x="254502" y="3810000"/>
                    <a:pt x="166403" y="3773508"/>
                    <a:pt x="101448" y="3708552"/>
                  </a:cubicBezTo>
                  <a:cubicBezTo>
                    <a:pt x="36492" y="3643597"/>
                    <a:pt x="0" y="3555498"/>
                    <a:pt x="0" y="3463636"/>
                  </a:cubicBezTo>
                  <a:lnTo>
                    <a:pt x="0" y="346364"/>
                  </a:lnTo>
                  <a:cubicBezTo>
                    <a:pt x="0" y="254502"/>
                    <a:pt x="36492" y="166403"/>
                    <a:pt x="101448" y="101448"/>
                  </a:cubicBezTo>
                  <a:cubicBezTo>
                    <a:pt x="166403" y="36492"/>
                    <a:pt x="254502" y="0"/>
                    <a:pt x="346364" y="0"/>
                  </a:cubicBezTo>
                  <a:close/>
                </a:path>
              </a:pathLst>
            </a:custGeom>
            <a:solidFill>
              <a:srgbClr val="EAF6F4"/>
            </a:solidFill>
            <a:ln w="19050" cap="rnd">
              <a:solidFill>
                <a:srgbClr val="3A3A3A"/>
              </a:solidFill>
              <a:prstDash val="solid"/>
              <a:round/>
            </a:ln>
          </p:spPr>
        </p:sp>
        <p:sp>
          <p:nvSpPr>
            <p:cNvPr id="11" name="TextBox 11"/>
            <p:cNvSpPr txBox="1"/>
            <p:nvPr/>
          </p:nvSpPr>
          <p:spPr>
            <a:xfrm>
              <a:off x="0" y="-38100"/>
              <a:ext cx="2794000" cy="3848100"/>
            </a:xfrm>
            <a:prstGeom prst="rect">
              <a:avLst/>
            </a:prstGeom>
          </p:spPr>
          <p:txBody>
            <a:bodyPr lIns="50800" tIns="50800" rIns="50800" bIns="50800" rtlCol="0" anchor="ctr"/>
            <a:lstStyle/>
            <a:p>
              <a:pPr algn="l">
                <a:lnSpc>
                  <a:spcPts val="1679"/>
                </a:lnSpc>
              </a:pPr>
              <a:endParaRPr/>
            </a:p>
          </p:txBody>
        </p:sp>
      </p:grpSp>
      <p:grpSp>
        <p:nvGrpSpPr>
          <p:cNvPr id="12" name="Group 12"/>
          <p:cNvGrpSpPr/>
          <p:nvPr/>
        </p:nvGrpSpPr>
        <p:grpSpPr>
          <a:xfrm>
            <a:off x="15811500" y="2952750"/>
            <a:ext cx="952500" cy="476250"/>
            <a:chOff x="0" y="0"/>
            <a:chExt cx="1270000" cy="635000"/>
          </a:xfrm>
        </p:grpSpPr>
        <p:sp>
          <p:nvSpPr>
            <p:cNvPr id="13" name="Freeform 13"/>
            <p:cNvSpPr/>
            <p:nvPr/>
          </p:nvSpPr>
          <p:spPr>
            <a:xfrm>
              <a:off x="0" y="0"/>
              <a:ext cx="1270000" cy="635000"/>
            </a:xfrm>
            <a:custGeom>
              <a:avLst/>
              <a:gdLst/>
              <a:ahLst/>
              <a:cxnLst/>
              <a:rect l="l" t="t" r="r" b="b"/>
              <a:pathLst>
                <a:path w="1270000" h="635000">
                  <a:moveTo>
                    <a:pt x="317500" y="0"/>
                  </a:moveTo>
                  <a:lnTo>
                    <a:pt x="952500" y="0"/>
                  </a:lnTo>
                  <a:cubicBezTo>
                    <a:pt x="1127850" y="0"/>
                    <a:pt x="1270000" y="142150"/>
                    <a:pt x="1270000" y="317500"/>
                  </a:cubicBezTo>
                  <a:lnTo>
                    <a:pt x="1270000" y="317500"/>
                  </a:lnTo>
                  <a:cubicBezTo>
                    <a:pt x="1270000" y="492850"/>
                    <a:pt x="1127850" y="635000"/>
                    <a:pt x="952500" y="635000"/>
                  </a:cubicBezTo>
                  <a:lnTo>
                    <a:pt x="317500" y="635000"/>
                  </a:lnTo>
                  <a:cubicBezTo>
                    <a:pt x="142150" y="635000"/>
                    <a:pt x="0" y="492850"/>
                    <a:pt x="0" y="317500"/>
                  </a:cubicBezTo>
                  <a:lnTo>
                    <a:pt x="0" y="317500"/>
                  </a:lnTo>
                  <a:cubicBezTo>
                    <a:pt x="0" y="142150"/>
                    <a:pt x="142150" y="0"/>
                    <a:pt x="317500" y="0"/>
                  </a:cubicBezTo>
                  <a:close/>
                </a:path>
              </a:pathLst>
            </a:custGeom>
            <a:solidFill>
              <a:srgbClr val="F28BA8"/>
            </a:solidFill>
            <a:ln w="19050" cap="rnd">
              <a:solidFill>
                <a:srgbClr val="3A3A3A"/>
              </a:solidFill>
              <a:prstDash val="solid"/>
              <a:round/>
            </a:ln>
          </p:spPr>
        </p:sp>
        <p:sp>
          <p:nvSpPr>
            <p:cNvPr id="14" name="TextBox 14"/>
            <p:cNvSpPr txBox="1"/>
            <p:nvPr/>
          </p:nvSpPr>
          <p:spPr>
            <a:xfrm>
              <a:off x="0" y="-38100"/>
              <a:ext cx="1270000" cy="673100"/>
            </a:xfrm>
            <a:prstGeom prst="rect">
              <a:avLst/>
            </a:prstGeom>
          </p:spPr>
          <p:txBody>
            <a:bodyPr lIns="50800" tIns="50800" rIns="50800" bIns="50800" rtlCol="0" anchor="ctr"/>
            <a:lstStyle/>
            <a:p>
              <a:pPr algn="l">
                <a:lnSpc>
                  <a:spcPts val="1679"/>
                </a:lnSpc>
              </a:pPr>
              <a:endParaRPr/>
            </a:p>
          </p:txBody>
        </p:sp>
      </p:grpSp>
      <p:grpSp>
        <p:nvGrpSpPr>
          <p:cNvPr id="15" name="Group 15"/>
          <p:cNvGrpSpPr/>
          <p:nvPr/>
        </p:nvGrpSpPr>
        <p:grpSpPr>
          <a:xfrm>
            <a:off x="15525750" y="3810000"/>
            <a:ext cx="247650" cy="247650"/>
            <a:chOff x="0" y="0"/>
            <a:chExt cx="330200" cy="330200"/>
          </a:xfrm>
        </p:grpSpPr>
        <p:sp>
          <p:nvSpPr>
            <p:cNvPr id="16" name="Freeform 16"/>
            <p:cNvSpPr/>
            <p:nvPr/>
          </p:nvSpPr>
          <p:spPr>
            <a:xfrm>
              <a:off x="0" y="0"/>
              <a:ext cx="330200" cy="330200"/>
            </a:xfrm>
            <a:custGeom>
              <a:avLst/>
              <a:gdLst/>
              <a:ahLst/>
              <a:cxnLst/>
              <a:rect l="l" t="t" r="r" b="b"/>
              <a:pathLst>
                <a:path w="330200" h="330200">
                  <a:moveTo>
                    <a:pt x="165100" y="0"/>
                  </a:moveTo>
                  <a:cubicBezTo>
                    <a:pt x="256282" y="0"/>
                    <a:pt x="330200" y="73918"/>
                    <a:pt x="330200" y="165100"/>
                  </a:cubicBezTo>
                  <a:cubicBezTo>
                    <a:pt x="330200" y="256282"/>
                    <a:pt x="256282" y="330200"/>
                    <a:pt x="165100" y="330200"/>
                  </a:cubicBezTo>
                  <a:cubicBezTo>
                    <a:pt x="73918" y="330200"/>
                    <a:pt x="0" y="256282"/>
                    <a:pt x="0" y="165100"/>
                  </a:cubicBezTo>
                  <a:cubicBezTo>
                    <a:pt x="0" y="73918"/>
                    <a:pt x="73918" y="0"/>
                    <a:pt x="165100" y="0"/>
                  </a:cubicBezTo>
                  <a:close/>
                </a:path>
              </a:pathLst>
            </a:custGeom>
            <a:solidFill>
              <a:srgbClr val="2A8A86"/>
            </a:solidFill>
            <a:ln w="19050" cap="sq">
              <a:solidFill>
                <a:srgbClr val="3A3A3A"/>
              </a:solidFill>
              <a:prstDash val="solid"/>
              <a:miter/>
            </a:ln>
          </p:spPr>
        </p:sp>
      </p:grpSp>
      <p:sp>
        <p:nvSpPr>
          <p:cNvPr id="17" name="AutoShape 17"/>
          <p:cNvSpPr/>
          <p:nvPr/>
        </p:nvSpPr>
        <p:spPr>
          <a:xfrm>
            <a:off x="15954375" y="3933825"/>
            <a:ext cx="1095375" cy="0"/>
          </a:xfrm>
          <a:prstGeom prst="line">
            <a:avLst/>
          </a:prstGeom>
          <a:ln w="28575" cap="rnd">
            <a:solidFill>
              <a:srgbClr val="3A3A3A"/>
            </a:solidFill>
            <a:prstDash val="solid"/>
            <a:headEnd type="none" w="sm" len="sm"/>
            <a:tailEnd type="none" w="sm" len="sm"/>
          </a:ln>
        </p:spPr>
      </p:sp>
      <p:grpSp>
        <p:nvGrpSpPr>
          <p:cNvPr id="18" name="Group 18"/>
          <p:cNvGrpSpPr/>
          <p:nvPr/>
        </p:nvGrpSpPr>
        <p:grpSpPr>
          <a:xfrm>
            <a:off x="15525750" y="4286250"/>
            <a:ext cx="247650" cy="247650"/>
            <a:chOff x="0" y="0"/>
            <a:chExt cx="330200" cy="330200"/>
          </a:xfrm>
        </p:grpSpPr>
        <p:sp>
          <p:nvSpPr>
            <p:cNvPr id="19" name="Freeform 19"/>
            <p:cNvSpPr/>
            <p:nvPr/>
          </p:nvSpPr>
          <p:spPr>
            <a:xfrm>
              <a:off x="0" y="0"/>
              <a:ext cx="330200" cy="330200"/>
            </a:xfrm>
            <a:custGeom>
              <a:avLst/>
              <a:gdLst/>
              <a:ahLst/>
              <a:cxnLst/>
              <a:rect l="l" t="t" r="r" b="b"/>
              <a:pathLst>
                <a:path w="330200" h="330200">
                  <a:moveTo>
                    <a:pt x="165100" y="0"/>
                  </a:moveTo>
                  <a:cubicBezTo>
                    <a:pt x="256282" y="0"/>
                    <a:pt x="330200" y="73918"/>
                    <a:pt x="330200" y="165100"/>
                  </a:cubicBezTo>
                  <a:cubicBezTo>
                    <a:pt x="330200" y="256282"/>
                    <a:pt x="256282" y="330200"/>
                    <a:pt x="165100" y="330200"/>
                  </a:cubicBezTo>
                  <a:cubicBezTo>
                    <a:pt x="73918" y="330200"/>
                    <a:pt x="0" y="256282"/>
                    <a:pt x="0" y="165100"/>
                  </a:cubicBezTo>
                  <a:cubicBezTo>
                    <a:pt x="0" y="73918"/>
                    <a:pt x="73918" y="0"/>
                    <a:pt x="165100" y="0"/>
                  </a:cubicBezTo>
                  <a:close/>
                </a:path>
              </a:pathLst>
            </a:custGeom>
            <a:solidFill>
              <a:srgbClr val="2A8A86"/>
            </a:solidFill>
            <a:ln w="19050" cap="sq">
              <a:solidFill>
                <a:srgbClr val="3A3A3A"/>
              </a:solidFill>
              <a:prstDash val="solid"/>
              <a:miter/>
            </a:ln>
          </p:spPr>
        </p:sp>
      </p:grpSp>
      <p:sp>
        <p:nvSpPr>
          <p:cNvPr id="20" name="AutoShape 20"/>
          <p:cNvSpPr/>
          <p:nvPr/>
        </p:nvSpPr>
        <p:spPr>
          <a:xfrm>
            <a:off x="15954375" y="4410075"/>
            <a:ext cx="1095375" cy="0"/>
          </a:xfrm>
          <a:prstGeom prst="line">
            <a:avLst/>
          </a:prstGeom>
          <a:ln w="28575" cap="rnd">
            <a:solidFill>
              <a:srgbClr val="3A3A3A"/>
            </a:solidFill>
            <a:prstDash val="solid"/>
            <a:headEnd type="none" w="sm" len="sm"/>
            <a:tailEnd type="none" w="sm" len="sm"/>
          </a:ln>
        </p:spPr>
      </p:sp>
      <p:grpSp>
        <p:nvGrpSpPr>
          <p:cNvPr id="21" name="Group 21"/>
          <p:cNvGrpSpPr/>
          <p:nvPr/>
        </p:nvGrpSpPr>
        <p:grpSpPr>
          <a:xfrm>
            <a:off x="15525750" y="4762500"/>
            <a:ext cx="247650" cy="247650"/>
            <a:chOff x="0" y="0"/>
            <a:chExt cx="330200" cy="330200"/>
          </a:xfrm>
        </p:grpSpPr>
        <p:sp>
          <p:nvSpPr>
            <p:cNvPr id="22" name="Freeform 22"/>
            <p:cNvSpPr/>
            <p:nvPr/>
          </p:nvSpPr>
          <p:spPr>
            <a:xfrm>
              <a:off x="0" y="0"/>
              <a:ext cx="330200" cy="330200"/>
            </a:xfrm>
            <a:custGeom>
              <a:avLst/>
              <a:gdLst/>
              <a:ahLst/>
              <a:cxnLst/>
              <a:rect l="l" t="t" r="r" b="b"/>
              <a:pathLst>
                <a:path w="330200" h="330200">
                  <a:moveTo>
                    <a:pt x="165100" y="0"/>
                  </a:moveTo>
                  <a:cubicBezTo>
                    <a:pt x="256282" y="0"/>
                    <a:pt x="330200" y="73918"/>
                    <a:pt x="330200" y="165100"/>
                  </a:cubicBezTo>
                  <a:cubicBezTo>
                    <a:pt x="330200" y="256282"/>
                    <a:pt x="256282" y="330200"/>
                    <a:pt x="165100" y="330200"/>
                  </a:cubicBezTo>
                  <a:cubicBezTo>
                    <a:pt x="73918" y="330200"/>
                    <a:pt x="0" y="256282"/>
                    <a:pt x="0" y="165100"/>
                  </a:cubicBezTo>
                  <a:cubicBezTo>
                    <a:pt x="0" y="73918"/>
                    <a:pt x="73918" y="0"/>
                    <a:pt x="165100" y="0"/>
                  </a:cubicBezTo>
                  <a:close/>
                </a:path>
              </a:pathLst>
            </a:custGeom>
            <a:solidFill>
              <a:srgbClr val="FFFFFF"/>
            </a:solidFill>
            <a:ln w="19050" cap="sq">
              <a:solidFill>
                <a:srgbClr val="3A3A3A"/>
              </a:solidFill>
              <a:prstDash val="solid"/>
              <a:miter/>
            </a:ln>
          </p:spPr>
        </p:sp>
      </p:grpSp>
      <p:sp>
        <p:nvSpPr>
          <p:cNvPr id="23" name="AutoShape 23"/>
          <p:cNvSpPr/>
          <p:nvPr/>
        </p:nvSpPr>
        <p:spPr>
          <a:xfrm>
            <a:off x="15954375" y="4886325"/>
            <a:ext cx="1095375" cy="0"/>
          </a:xfrm>
          <a:prstGeom prst="line">
            <a:avLst/>
          </a:prstGeom>
          <a:ln w="28575" cap="rnd">
            <a:solidFill>
              <a:srgbClr val="3A3A3A"/>
            </a:solidFill>
            <a:prstDash val="solid"/>
            <a:headEnd type="none" w="sm" len="sm"/>
            <a:tailEnd type="none" w="sm" len="sm"/>
          </a:ln>
        </p:spPr>
      </p:sp>
      <p:grpSp>
        <p:nvGrpSpPr>
          <p:cNvPr id="24" name="Group 24"/>
          <p:cNvGrpSpPr/>
          <p:nvPr/>
        </p:nvGrpSpPr>
        <p:grpSpPr>
          <a:xfrm>
            <a:off x="15525750" y="5238750"/>
            <a:ext cx="247650" cy="247650"/>
            <a:chOff x="0" y="0"/>
            <a:chExt cx="330200" cy="330200"/>
          </a:xfrm>
        </p:grpSpPr>
        <p:sp>
          <p:nvSpPr>
            <p:cNvPr id="25" name="Freeform 25"/>
            <p:cNvSpPr/>
            <p:nvPr/>
          </p:nvSpPr>
          <p:spPr>
            <a:xfrm>
              <a:off x="0" y="0"/>
              <a:ext cx="330200" cy="330200"/>
            </a:xfrm>
            <a:custGeom>
              <a:avLst/>
              <a:gdLst/>
              <a:ahLst/>
              <a:cxnLst/>
              <a:rect l="l" t="t" r="r" b="b"/>
              <a:pathLst>
                <a:path w="330200" h="330200">
                  <a:moveTo>
                    <a:pt x="165100" y="0"/>
                  </a:moveTo>
                  <a:cubicBezTo>
                    <a:pt x="256282" y="0"/>
                    <a:pt x="330200" y="73918"/>
                    <a:pt x="330200" y="165100"/>
                  </a:cubicBezTo>
                  <a:cubicBezTo>
                    <a:pt x="330200" y="256282"/>
                    <a:pt x="256282" y="330200"/>
                    <a:pt x="165100" y="330200"/>
                  </a:cubicBezTo>
                  <a:cubicBezTo>
                    <a:pt x="73918" y="330200"/>
                    <a:pt x="0" y="256282"/>
                    <a:pt x="0" y="165100"/>
                  </a:cubicBezTo>
                  <a:cubicBezTo>
                    <a:pt x="0" y="73918"/>
                    <a:pt x="73918" y="0"/>
                    <a:pt x="165100" y="0"/>
                  </a:cubicBezTo>
                  <a:close/>
                </a:path>
              </a:pathLst>
            </a:custGeom>
            <a:solidFill>
              <a:srgbClr val="FFFFFF"/>
            </a:solidFill>
            <a:ln w="19050" cap="sq">
              <a:solidFill>
                <a:srgbClr val="3A3A3A"/>
              </a:solidFill>
              <a:prstDash val="solid"/>
              <a:miter/>
            </a:ln>
          </p:spPr>
        </p:sp>
      </p:grpSp>
      <p:sp>
        <p:nvSpPr>
          <p:cNvPr id="26" name="AutoShape 26"/>
          <p:cNvSpPr/>
          <p:nvPr/>
        </p:nvSpPr>
        <p:spPr>
          <a:xfrm>
            <a:off x="15954375" y="5362575"/>
            <a:ext cx="1095375" cy="0"/>
          </a:xfrm>
          <a:prstGeom prst="line">
            <a:avLst/>
          </a:prstGeom>
          <a:ln w="28575" cap="rnd">
            <a:solidFill>
              <a:srgbClr val="3A3A3A"/>
            </a:solidFill>
            <a:prstDash val="solid"/>
            <a:headEnd type="none" w="sm" len="sm"/>
            <a:tailEnd type="none" w="sm" len="sm"/>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9EFEE"/>
        </a:solidFill>
        <a:effectLst/>
      </p:bgPr>
    </p:bg>
    <p:spTree>
      <p:nvGrpSpPr>
        <p:cNvPr id="1" name=""/>
        <p:cNvGrpSpPr/>
        <p:nvPr/>
      </p:nvGrpSpPr>
      <p:grpSpPr>
        <a:xfrm>
          <a:off x="0" y="0"/>
          <a:ext cx="0" cy="0"/>
          <a:chOff x="0" y="0"/>
          <a:chExt cx="0" cy="0"/>
        </a:xfrm>
      </p:grpSpPr>
      <p:grpSp>
        <p:nvGrpSpPr>
          <p:cNvPr id="2" name="Group 2"/>
          <p:cNvGrpSpPr/>
          <p:nvPr/>
        </p:nvGrpSpPr>
        <p:grpSpPr>
          <a:xfrm>
            <a:off x="1047750" y="1607820"/>
            <a:ext cx="1143000" cy="57150"/>
            <a:chOff x="0" y="0"/>
            <a:chExt cx="1524000" cy="76200"/>
          </a:xfrm>
        </p:grpSpPr>
        <p:sp>
          <p:nvSpPr>
            <p:cNvPr id="3" name="Freeform 3"/>
            <p:cNvSpPr/>
            <p:nvPr/>
          </p:nvSpPr>
          <p:spPr>
            <a:xfrm>
              <a:off x="0" y="0"/>
              <a:ext cx="1524000" cy="76200"/>
            </a:xfrm>
            <a:custGeom>
              <a:avLst/>
              <a:gdLst/>
              <a:ahLst/>
              <a:cxnLst/>
              <a:rect l="l" t="t" r="r" b="b"/>
              <a:pathLst>
                <a:path w="1524000" h="76200">
                  <a:moveTo>
                    <a:pt x="38100" y="0"/>
                  </a:moveTo>
                  <a:lnTo>
                    <a:pt x="1485900" y="0"/>
                  </a:lnTo>
                  <a:cubicBezTo>
                    <a:pt x="1506942" y="0"/>
                    <a:pt x="1524000" y="17058"/>
                    <a:pt x="1524000" y="38100"/>
                  </a:cubicBezTo>
                  <a:lnTo>
                    <a:pt x="1524000" y="38100"/>
                  </a:lnTo>
                  <a:cubicBezTo>
                    <a:pt x="1524000" y="59142"/>
                    <a:pt x="1506942" y="76200"/>
                    <a:pt x="1485900" y="76200"/>
                  </a:cubicBezTo>
                  <a:lnTo>
                    <a:pt x="38100" y="76200"/>
                  </a:lnTo>
                  <a:cubicBezTo>
                    <a:pt x="17058" y="76200"/>
                    <a:pt x="0" y="59142"/>
                    <a:pt x="0" y="38100"/>
                  </a:cubicBezTo>
                  <a:lnTo>
                    <a:pt x="0" y="38100"/>
                  </a:lnTo>
                  <a:cubicBezTo>
                    <a:pt x="0" y="17058"/>
                    <a:pt x="17058" y="0"/>
                    <a:pt x="38100" y="0"/>
                  </a:cubicBezTo>
                  <a:close/>
                </a:path>
              </a:pathLst>
            </a:custGeom>
            <a:solidFill>
              <a:srgbClr val="E26A8A"/>
            </a:solidFill>
            <a:ln cap="rnd">
              <a:noFill/>
              <a:prstDash val="solid"/>
              <a:round/>
            </a:ln>
          </p:spPr>
        </p:sp>
        <p:sp>
          <p:nvSpPr>
            <p:cNvPr id="4" name="TextBox 4"/>
            <p:cNvSpPr txBox="1"/>
            <p:nvPr/>
          </p:nvSpPr>
          <p:spPr>
            <a:xfrm>
              <a:off x="0" y="-38100"/>
              <a:ext cx="1524000" cy="114300"/>
            </a:xfrm>
            <a:prstGeom prst="rect">
              <a:avLst/>
            </a:prstGeom>
          </p:spPr>
          <p:txBody>
            <a:bodyPr lIns="50800" tIns="50800" rIns="50800" bIns="50800" rtlCol="0" anchor="ctr"/>
            <a:lstStyle/>
            <a:p>
              <a:pPr algn="l">
                <a:lnSpc>
                  <a:spcPts val="1679"/>
                </a:lnSpc>
              </a:pPr>
              <a:endParaRPr/>
            </a:p>
          </p:txBody>
        </p:sp>
      </p:grpSp>
      <p:sp>
        <p:nvSpPr>
          <p:cNvPr id="5" name="TextBox 5"/>
          <p:cNvSpPr txBox="1"/>
          <p:nvPr/>
        </p:nvSpPr>
        <p:spPr>
          <a:xfrm>
            <a:off x="1047750" y="704850"/>
            <a:ext cx="14287500" cy="731520"/>
          </a:xfrm>
          <a:prstGeom prst="rect">
            <a:avLst/>
          </a:prstGeom>
        </p:spPr>
        <p:txBody>
          <a:bodyPr lIns="0" tIns="0" rIns="0" bIns="0" rtlCol="0" anchor="t">
            <a:spAutoFit/>
          </a:bodyPr>
          <a:lstStyle/>
          <a:p>
            <a:pPr algn="l">
              <a:lnSpc>
                <a:spcPts val="5610"/>
              </a:lnSpc>
            </a:pPr>
            <a:r>
              <a:rPr lang="en-US" sz="5100">
                <a:solidFill>
                  <a:srgbClr val="1F2A2E"/>
                </a:solidFill>
                <a:latin typeface="Baloo"/>
                <a:ea typeface="Baloo"/>
                <a:cs typeface="Baloo"/>
                <a:sym typeface="Baloo"/>
              </a:rPr>
              <a:t>KẾT QUẢ</a:t>
            </a:r>
          </a:p>
        </p:txBody>
      </p:sp>
      <p:grpSp>
        <p:nvGrpSpPr>
          <p:cNvPr id="6" name="Group 6"/>
          <p:cNvGrpSpPr/>
          <p:nvPr/>
        </p:nvGrpSpPr>
        <p:grpSpPr>
          <a:xfrm>
            <a:off x="1914525" y="2476500"/>
            <a:ext cx="15811500" cy="2095500"/>
            <a:chOff x="0" y="0"/>
            <a:chExt cx="21082000" cy="2794000"/>
          </a:xfrm>
        </p:grpSpPr>
        <p:sp>
          <p:nvSpPr>
            <p:cNvPr id="7" name="Freeform 7"/>
            <p:cNvSpPr/>
            <p:nvPr/>
          </p:nvSpPr>
          <p:spPr>
            <a:xfrm>
              <a:off x="0" y="0"/>
              <a:ext cx="21082000" cy="2794000"/>
            </a:xfrm>
            <a:custGeom>
              <a:avLst/>
              <a:gdLst/>
              <a:ahLst/>
              <a:cxnLst/>
              <a:rect l="l" t="t" r="r" b="b"/>
              <a:pathLst>
                <a:path w="21082000" h="2794000">
                  <a:moveTo>
                    <a:pt x="45904" y="0"/>
                  </a:moveTo>
                  <a:lnTo>
                    <a:pt x="21036096" y="0"/>
                  </a:lnTo>
                  <a:cubicBezTo>
                    <a:pt x="21048270" y="0"/>
                    <a:pt x="21059947" y="4836"/>
                    <a:pt x="21068556" y="13445"/>
                  </a:cubicBezTo>
                  <a:cubicBezTo>
                    <a:pt x="21077163" y="22053"/>
                    <a:pt x="21082000" y="33729"/>
                    <a:pt x="21082000" y="45904"/>
                  </a:cubicBezTo>
                  <a:lnTo>
                    <a:pt x="21082000" y="2748096"/>
                  </a:lnTo>
                  <a:cubicBezTo>
                    <a:pt x="21082000" y="2760271"/>
                    <a:pt x="21077163" y="2771947"/>
                    <a:pt x="21068556" y="2780555"/>
                  </a:cubicBezTo>
                  <a:cubicBezTo>
                    <a:pt x="21059947" y="2789164"/>
                    <a:pt x="21048270" y="2794000"/>
                    <a:pt x="21036096" y="2794000"/>
                  </a:cubicBezTo>
                  <a:lnTo>
                    <a:pt x="45904" y="2794000"/>
                  </a:lnTo>
                  <a:cubicBezTo>
                    <a:pt x="33729" y="2794000"/>
                    <a:pt x="22053" y="2789164"/>
                    <a:pt x="13445" y="2780555"/>
                  </a:cubicBezTo>
                  <a:cubicBezTo>
                    <a:pt x="4836" y="2771947"/>
                    <a:pt x="0" y="2760271"/>
                    <a:pt x="0" y="2748096"/>
                  </a:cubicBezTo>
                  <a:lnTo>
                    <a:pt x="0" y="45904"/>
                  </a:lnTo>
                  <a:cubicBezTo>
                    <a:pt x="0" y="33729"/>
                    <a:pt x="4836" y="22053"/>
                    <a:pt x="13445" y="13445"/>
                  </a:cubicBezTo>
                  <a:cubicBezTo>
                    <a:pt x="22053" y="4836"/>
                    <a:pt x="33729" y="0"/>
                    <a:pt x="45904" y="0"/>
                  </a:cubicBezTo>
                  <a:close/>
                </a:path>
              </a:pathLst>
            </a:custGeom>
            <a:solidFill>
              <a:srgbClr val="FFFFFF"/>
            </a:solidFill>
            <a:ln w="19050" cap="rnd">
              <a:solidFill>
                <a:srgbClr val="3A3A3A"/>
              </a:solidFill>
              <a:prstDash val="solid"/>
              <a:round/>
            </a:ln>
          </p:spPr>
        </p:sp>
        <p:sp>
          <p:nvSpPr>
            <p:cNvPr id="8" name="TextBox 8"/>
            <p:cNvSpPr txBox="1"/>
            <p:nvPr/>
          </p:nvSpPr>
          <p:spPr>
            <a:xfrm>
              <a:off x="0" y="-38100"/>
              <a:ext cx="21082000" cy="2832100"/>
            </a:xfrm>
            <a:prstGeom prst="rect">
              <a:avLst/>
            </a:prstGeom>
          </p:spPr>
          <p:txBody>
            <a:bodyPr lIns="50800" tIns="50800" rIns="50800" bIns="50800" rtlCol="0" anchor="ctr"/>
            <a:lstStyle/>
            <a:p>
              <a:pPr algn="l">
                <a:lnSpc>
                  <a:spcPts val="1679"/>
                </a:lnSpc>
              </a:pPr>
              <a:endParaRPr/>
            </a:p>
          </p:txBody>
        </p:sp>
      </p:grpSp>
      <p:grpSp>
        <p:nvGrpSpPr>
          <p:cNvPr id="9" name="Group 9"/>
          <p:cNvGrpSpPr/>
          <p:nvPr/>
        </p:nvGrpSpPr>
        <p:grpSpPr>
          <a:xfrm>
            <a:off x="1343025" y="2757792"/>
            <a:ext cx="1143000" cy="1190015"/>
            <a:chOff x="0" y="0"/>
            <a:chExt cx="1524000" cy="1586687"/>
          </a:xfrm>
        </p:grpSpPr>
        <p:sp>
          <p:nvSpPr>
            <p:cNvPr id="10" name="Freeform 10"/>
            <p:cNvSpPr/>
            <p:nvPr/>
          </p:nvSpPr>
          <p:spPr>
            <a:xfrm>
              <a:off x="0" y="0"/>
              <a:ext cx="1524000" cy="1586687"/>
            </a:xfrm>
            <a:custGeom>
              <a:avLst/>
              <a:gdLst/>
              <a:ahLst/>
              <a:cxnLst/>
              <a:rect l="l" t="t" r="r" b="b"/>
              <a:pathLst>
                <a:path w="1524000" h="1586687">
                  <a:moveTo>
                    <a:pt x="762000" y="0"/>
                  </a:moveTo>
                  <a:cubicBezTo>
                    <a:pt x="1182841" y="0"/>
                    <a:pt x="1524000" y="355192"/>
                    <a:pt x="1524000" y="793344"/>
                  </a:cubicBezTo>
                  <a:cubicBezTo>
                    <a:pt x="1524000" y="1231495"/>
                    <a:pt x="1182841" y="1586687"/>
                    <a:pt x="762000" y="1586687"/>
                  </a:cubicBezTo>
                  <a:cubicBezTo>
                    <a:pt x="341159" y="1586687"/>
                    <a:pt x="0" y="1231495"/>
                    <a:pt x="0" y="793344"/>
                  </a:cubicBezTo>
                  <a:cubicBezTo>
                    <a:pt x="0" y="355192"/>
                    <a:pt x="341159" y="0"/>
                    <a:pt x="762000" y="0"/>
                  </a:cubicBezTo>
                  <a:close/>
                </a:path>
              </a:pathLst>
            </a:custGeom>
            <a:solidFill>
              <a:srgbClr val="E26A8A"/>
            </a:solidFill>
            <a:ln w="19050" cap="sq">
              <a:solidFill>
                <a:srgbClr val="3A3A3A"/>
              </a:solidFill>
              <a:prstDash val="solid"/>
              <a:miter/>
            </a:ln>
          </p:spPr>
        </p:sp>
        <p:sp>
          <p:nvSpPr>
            <p:cNvPr id="11" name="TextBox 11"/>
            <p:cNvSpPr txBox="1"/>
            <p:nvPr/>
          </p:nvSpPr>
          <p:spPr>
            <a:xfrm>
              <a:off x="0" y="-85725"/>
              <a:ext cx="1524000" cy="1672412"/>
            </a:xfrm>
            <a:prstGeom prst="rect">
              <a:avLst/>
            </a:prstGeom>
          </p:spPr>
          <p:txBody>
            <a:bodyPr lIns="50800" tIns="50800" rIns="50800" bIns="50800" rtlCol="0" anchor="ctr"/>
            <a:lstStyle/>
            <a:p>
              <a:pPr algn="ctr">
                <a:lnSpc>
                  <a:spcPts val="6719"/>
                </a:lnSpc>
              </a:pPr>
              <a:r>
                <a:rPr lang="en-US" sz="4800">
                  <a:solidFill>
                    <a:srgbClr val="FFFFFF"/>
                  </a:solidFill>
                  <a:latin typeface="Baloo"/>
                  <a:ea typeface="Baloo"/>
                  <a:cs typeface="Baloo"/>
                  <a:sym typeface="Baloo"/>
                </a:rPr>
                <a:t>1</a:t>
              </a:r>
            </a:p>
          </p:txBody>
        </p:sp>
      </p:grpSp>
      <p:grpSp>
        <p:nvGrpSpPr>
          <p:cNvPr id="12" name="Group 12"/>
          <p:cNvGrpSpPr/>
          <p:nvPr/>
        </p:nvGrpSpPr>
        <p:grpSpPr>
          <a:xfrm>
            <a:off x="1905000" y="4762500"/>
            <a:ext cx="15811500" cy="2095500"/>
            <a:chOff x="0" y="0"/>
            <a:chExt cx="21082000" cy="2794000"/>
          </a:xfrm>
        </p:grpSpPr>
        <p:sp>
          <p:nvSpPr>
            <p:cNvPr id="13" name="Freeform 13"/>
            <p:cNvSpPr/>
            <p:nvPr/>
          </p:nvSpPr>
          <p:spPr>
            <a:xfrm>
              <a:off x="0" y="0"/>
              <a:ext cx="21082000" cy="2794000"/>
            </a:xfrm>
            <a:custGeom>
              <a:avLst/>
              <a:gdLst/>
              <a:ahLst/>
              <a:cxnLst/>
              <a:rect l="l" t="t" r="r" b="b"/>
              <a:pathLst>
                <a:path w="21082000" h="2794000">
                  <a:moveTo>
                    <a:pt x="45904" y="0"/>
                  </a:moveTo>
                  <a:lnTo>
                    <a:pt x="21036096" y="0"/>
                  </a:lnTo>
                  <a:cubicBezTo>
                    <a:pt x="21048270" y="0"/>
                    <a:pt x="21059947" y="4836"/>
                    <a:pt x="21068556" y="13445"/>
                  </a:cubicBezTo>
                  <a:cubicBezTo>
                    <a:pt x="21077163" y="22053"/>
                    <a:pt x="21082000" y="33729"/>
                    <a:pt x="21082000" y="45904"/>
                  </a:cubicBezTo>
                  <a:lnTo>
                    <a:pt x="21082000" y="2748096"/>
                  </a:lnTo>
                  <a:cubicBezTo>
                    <a:pt x="21082000" y="2760271"/>
                    <a:pt x="21077163" y="2771947"/>
                    <a:pt x="21068556" y="2780555"/>
                  </a:cubicBezTo>
                  <a:cubicBezTo>
                    <a:pt x="21059947" y="2789164"/>
                    <a:pt x="21048270" y="2794000"/>
                    <a:pt x="21036096" y="2794000"/>
                  </a:cubicBezTo>
                  <a:lnTo>
                    <a:pt x="45904" y="2794000"/>
                  </a:lnTo>
                  <a:cubicBezTo>
                    <a:pt x="33729" y="2794000"/>
                    <a:pt x="22053" y="2789164"/>
                    <a:pt x="13445" y="2780555"/>
                  </a:cubicBezTo>
                  <a:cubicBezTo>
                    <a:pt x="4836" y="2771947"/>
                    <a:pt x="0" y="2760271"/>
                    <a:pt x="0" y="2748096"/>
                  </a:cubicBezTo>
                  <a:lnTo>
                    <a:pt x="0" y="45904"/>
                  </a:lnTo>
                  <a:cubicBezTo>
                    <a:pt x="0" y="33729"/>
                    <a:pt x="4836" y="22053"/>
                    <a:pt x="13445" y="13445"/>
                  </a:cubicBezTo>
                  <a:cubicBezTo>
                    <a:pt x="22053" y="4836"/>
                    <a:pt x="33729" y="0"/>
                    <a:pt x="45904" y="0"/>
                  </a:cubicBezTo>
                  <a:close/>
                </a:path>
              </a:pathLst>
            </a:custGeom>
            <a:solidFill>
              <a:srgbClr val="FFFFFF"/>
            </a:solidFill>
            <a:ln w="19050" cap="rnd">
              <a:solidFill>
                <a:srgbClr val="3A3A3A"/>
              </a:solidFill>
              <a:prstDash val="solid"/>
              <a:round/>
            </a:ln>
          </p:spPr>
        </p:sp>
        <p:sp>
          <p:nvSpPr>
            <p:cNvPr id="14" name="TextBox 14"/>
            <p:cNvSpPr txBox="1"/>
            <p:nvPr/>
          </p:nvSpPr>
          <p:spPr>
            <a:xfrm>
              <a:off x="0" y="-38100"/>
              <a:ext cx="21082000" cy="2832100"/>
            </a:xfrm>
            <a:prstGeom prst="rect">
              <a:avLst/>
            </a:prstGeom>
          </p:spPr>
          <p:txBody>
            <a:bodyPr lIns="50800" tIns="50800" rIns="50800" bIns="50800" rtlCol="0" anchor="ctr"/>
            <a:lstStyle/>
            <a:p>
              <a:pPr algn="l">
                <a:lnSpc>
                  <a:spcPts val="1679"/>
                </a:lnSpc>
              </a:pPr>
              <a:endParaRPr/>
            </a:p>
          </p:txBody>
        </p:sp>
      </p:grpSp>
      <p:grpSp>
        <p:nvGrpSpPr>
          <p:cNvPr id="15" name="Group 15"/>
          <p:cNvGrpSpPr/>
          <p:nvPr/>
        </p:nvGrpSpPr>
        <p:grpSpPr>
          <a:xfrm>
            <a:off x="1333500" y="5238750"/>
            <a:ext cx="1143000" cy="1190015"/>
            <a:chOff x="0" y="0"/>
            <a:chExt cx="1524000" cy="1586687"/>
          </a:xfrm>
        </p:grpSpPr>
        <p:sp>
          <p:nvSpPr>
            <p:cNvPr id="16" name="Freeform 16"/>
            <p:cNvSpPr/>
            <p:nvPr/>
          </p:nvSpPr>
          <p:spPr>
            <a:xfrm>
              <a:off x="0" y="0"/>
              <a:ext cx="1524000" cy="1586687"/>
            </a:xfrm>
            <a:custGeom>
              <a:avLst/>
              <a:gdLst/>
              <a:ahLst/>
              <a:cxnLst/>
              <a:rect l="l" t="t" r="r" b="b"/>
              <a:pathLst>
                <a:path w="1524000" h="1586687">
                  <a:moveTo>
                    <a:pt x="762000" y="0"/>
                  </a:moveTo>
                  <a:cubicBezTo>
                    <a:pt x="1182841" y="0"/>
                    <a:pt x="1524000" y="355192"/>
                    <a:pt x="1524000" y="793344"/>
                  </a:cubicBezTo>
                  <a:cubicBezTo>
                    <a:pt x="1524000" y="1231495"/>
                    <a:pt x="1182841" y="1586687"/>
                    <a:pt x="762000" y="1586687"/>
                  </a:cubicBezTo>
                  <a:cubicBezTo>
                    <a:pt x="341159" y="1586687"/>
                    <a:pt x="0" y="1231495"/>
                    <a:pt x="0" y="793344"/>
                  </a:cubicBezTo>
                  <a:cubicBezTo>
                    <a:pt x="0" y="355192"/>
                    <a:pt x="341159" y="0"/>
                    <a:pt x="762000" y="0"/>
                  </a:cubicBezTo>
                  <a:close/>
                </a:path>
              </a:pathLst>
            </a:custGeom>
            <a:solidFill>
              <a:srgbClr val="E26A8A"/>
            </a:solidFill>
            <a:ln w="19050" cap="sq">
              <a:solidFill>
                <a:srgbClr val="3A3A3A"/>
              </a:solidFill>
              <a:prstDash val="solid"/>
              <a:miter/>
            </a:ln>
          </p:spPr>
        </p:sp>
        <p:sp>
          <p:nvSpPr>
            <p:cNvPr id="17" name="TextBox 17"/>
            <p:cNvSpPr txBox="1"/>
            <p:nvPr/>
          </p:nvSpPr>
          <p:spPr>
            <a:xfrm>
              <a:off x="0" y="-85725"/>
              <a:ext cx="1524000" cy="1672412"/>
            </a:xfrm>
            <a:prstGeom prst="rect">
              <a:avLst/>
            </a:prstGeom>
          </p:spPr>
          <p:txBody>
            <a:bodyPr lIns="50800" tIns="50800" rIns="50800" bIns="50800" rtlCol="0" anchor="ctr"/>
            <a:lstStyle/>
            <a:p>
              <a:pPr algn="ctr">
                <a:lnSpc>
                  <a:spcPts val="6719"/>
                </a:lnSpc>
              </a:pPr>
              <a:r>
                <a:rPr lang="en-US" sz="4800">
                  <a:solidFill>
                    <a:srgbClr val="FFFFFF"/>
                  </a:solidFill>
                  <a:latin typeface="Baloo"/>
                  <a:ea typeface="Baloo"/>
                  <a:cs typeface="Baloo"/>
                  <a:sym typeface="Baloo"/>
                </a:rPr>
                <a:t>2</a:t>
              </a:r>
            </a:p>
          </p:txBody>
        </p:sp>
      </p:grpSp>
      <p:grpSp>
        <p:nvGrpSpPr>
          <p:cNvPr id="18" name="Group 18"/>
          <p:cNvGrpSpPr/>
          <p:nvPr/>
        </p:nvGrpSpPr>
        <p:grpSpPr>
          <a:xfrm>
            <a:off x="1905000" y="7048500"/>
            <a:ext cx="15811500" cy="2095500"/>
            <a:chOff x="0" y="0"/>
            <a:chExt cx="21082000" cy="2794000"/>
          </a:xfrm>
        </p:grpSpPr>
        <p:sp>
          <p:nvSpPr>
            <p:cNvPr id="19" name="Freeform 19"/>
            <p:cNvSpPr/>
            <p:nvPr/>
          </p:nvSpPr>
          <p:spPr>
            <a:xfrm>
              <a:off x="0" y="0"/>
              <a:ext cx="21082000" cy="2794000"/>
            </a:xfrm>
            <a:custGeom>
              <a:avLst/>
              <a:gdLst/>
              <a:ahLst/>
              <a:cxnLst/>
              <a:rect l="l" t="t" r="r" b="b"/>
              <a:pathLst>
                <a:path w="21082000" h="2794000">
                  <a:moveTo>
                    <a:pt x="45904" y="0"/>
                  </a:moveTo>
                  <a:lnTo>
                    <a:pt x="21036096" y="0"/>
                  </a:lnTo>
                  <a:cubicBezTo>
                    <a:pt x="21048270" y="0"/>
                    <a:pt x="21059947" y="4836"/>
                    <a:pt x="21068556" y="13445"/>
                  </a:cubicBezTo>
                  <a:cubicBezTo>
                    <a:pt x="21077163" y="22053"/>
                    <a:pt x="21082000" y="33729"/>
                    <a:pt x="21082000" y="45904"/>
                  </a:cubicBezTo>
                  <a:lnTo>
                    <a:pt x="21082000" y="2748096"/>
                  </a:lnTo>
                  <a:cubicBezTo>
                    <a:pt x="21082000" y="2760271"/>
                    <a:pt x="21077163" y="2771947"/>
                    <a:pt x="21068556" y="2780555"/>
                  </a:cubicBezTo>
                  <a:cubicBezTo>
                    <a:pt x="21059947" y="2789164"/>
                    <a:pt x="21048270" y="2794000"/>
                    <a:pt x="21036096" y="2794000"/>
                  </a:cubicBezTo>
                  <a:lnTo>
                    <a:pt x="45904" y="2794000"/>
                  </a:lnTo>
                  <a:cubicBezTo>
                    <a:pt x="33729" y="2794000"/>
                    <a:pt x="22053" y="2789164"/>
                    <a:pt x="13445" y="2780555"/>
                  </a:cubicBezTo>
                  <a:cubicBezTo>
                    <a:pt x="4836" y="2771947"/>
                    <a:pt x="0" y="2760271"/>
                    <a:pt x="0" y="2748096"/>
                  </a:cubicBezTo>
                  <a:lnTo>
                    <a:pt x="0" y="45904"/>
                  </a:lnTo>
                  <a:cubicBezTo>
                    <a:pt x="0" y="33729"/>
                    <a:pt x="4836" y="22053"/>
                    <a:pt x="13445" y="13445"/>
                  </a:cubicBezTo>
                  <a:cubicBezTo>
                    <a:pt x="22053" y="4836"/>
                    <a:pt x="33729" y="0"/>
                    <a:pt x="45904" y="0"/>
                  </a:cubicBezTo>
                  <a:close/>
                </a:path>
              </a:pathLst>
            </a:custGeom>
            <a:solidFill>
              <a:srgbClr val="FFFFFF"/>
            </a:solidFill>
            <a:ln w="19050" cap="rnd">
              <a:solidFill>
                <a:srgbClr val="3A3A3A"/>
              </a:solidFill>
              <a:prstDash val="solid"/>
              <a:round/>
            </a:ln>
          </p:spPr>
        </p:sp>
        <p:sp>
          <p:nvSpPr>
            <p:cNvPr id="20" name="TextBox 20"/>
            <p:cNvSpPr txBox="1"/>
            <p:nvPr/>
          </p:nvSpPr>
          <p:spPr>
            <a:xfrm>
              <a:off x="0" y="-38100"/>
              <a:ext cx="21082000" cy="2832100"/>
            </a:xfrm>
            <a:prstGeom prst="rect">
              <a:avLst/>
            </a:prstGeom>
          </p:spPr>
          <p:txBody>
            <a:bodyPr lIns="50800" tIns="50800" rIns="50800" bIns="50800" rtlCol="0" anchor="ctr"/>
            <a:lstStyle/>
            <a:p>
              <a:pPr algn="l">
                <a:lnSpc>
                  <a:spcPts val="1679"/>
                </a:lnSpc>
              </a:pPr>
              <a:endParaRPr/>
            </a:p>
          </p:txBody>
        </p:sp>
      </p:grpSp>
      <p:grpSp>
        <p:nvGrpSpPr>
          <p:cNvPr id="21" name="Group 21"/>
          <p:cNvGrpSpPr/>
          <p:nvPr/>
        </p:nvGrpSpPr>
        <p:grpSpPr>
          <a:xfrm>
            <a:off x="1333500" y="7524750"/>
            <a:ext cx="1143000" cy="1190015"/>
            <a:chOff x="0" y="0"/>
            <a:chExt cx="1524000" cy="1586687"/>
          </a:xfrm>
        </p:grpSpPr>
        <p:sp>
          <p:nvSpPr>
            <p:cNvPr id="22" name="Freeform 22"/>
            <p:cNvSpPr/>
            <p:nvPr/>
          </p:nvSpPr>
          <p:spPr>
            <a:xfrm>
              <a:off x="0" y="0"/>
              <a:ext cx="1524000" cy="1586687"/>
            </a:xfrm>
            <a:custGeom>
              <a:avLst/>
              <a:gdLst/>
              <a:ahLst/>
              <a:cxnLst/>
              <a:rect l="l" t="t" r="r" b="b"/>
              <a:pathLst>
                <a:path w="1524000" h="1586687">
                  <a:moveTo>
                    <a:pt x="762000" y="0"/>
                  </a:moveTo>
                  <a:cubicBezTo>
                    <a:pt x="1182841" y="0"/>
                    <a:pt x="1524000" y="355192"/>
                    <a:pt x="1524000" y="793344"/>
                  </a:cubicBezTo>
                  <a:cubicBezTo>
                    <a:pt x="1524000" y="1231495"/>
                    <a:pt x="1182841" y="1586687"/>
                    <a:pt x="762000" y="1586687"/>
                  </a:cubicBezTo>
                  <a:cubicBezTo>
                    <a:pt x="341159" y="1586687"/>
                    <a:pt x="0" y="1231495"/>
                    <a:pt x="0" y="793344"/>
                  </a:cubicBezTo>
                  <a:cubicBezTo>
                    <a:pt x="0" y="355192"/>
                    <a:pt x="341159" y="0"/>
                    <a:pt x="762000" y="0"/>
                  </a:cubicBezTo>
                  <a:close/>
                </a:path>
              </a:pathLst>
            </a:custGeom>
            <a:solidFill>
              <a:srgbClr val="E26A8A"/>
            </a:solidFill>
            <a:ln w="19050" cap="sq">
              <a:solidFill>
                <a:srgbClr val="3A3A3A"/>
              </a:solidFill>
              <a:prstDash val="solid"/>
              <a:miter/>
            </a:ln>
          </p:spPr>
        </p:sp>
        <p:sp>
          <p:nvSpPr>
            <p:cNvPr id="23" name="TextBox 23"/>
            <p:cNvSpPr txBox="1"/>
            <p:nvPr/>
          </p:nvSpPr>
          <p:spPr>
            <a:xfrm>
              <a:off x="0" y="-85725"/>
              <a:ext cx="1524000" cy="1672412"/>
            </a:xfrm>
            <a:prstGeom prst="rect">
              <a:avLst/>
            </a:prstGeom>
          </p:spPr>
          <p:txBody>
            <a:bodyPr lIns="50800" tIns="50800" rIns="50800" bIns="50800" rtlCol="0" anchor="ctr"/>
            <a:lstStyle/>
            <a:p>
              <a:pPr algn="ctr">
                <a:lnSpc>
                  <a:spcPts val="6719"/>
                </a:lnSpc>
              </a:pPr>
              <a:r>
                <a:rPr lang="en-US" sz="4800">
                  <a:solidFill>
                    <a:srgbClr val="FFFFFF"/>
                  </a:solidFill>
                  <a:latin typeface="Baloo"/>
                  <a:ea typeface="Baloo"/>
                  <a:cs typeface="Baloo"/>
                  <a:sym typeface="Baloo"/>
                </a:rPr>
                <a:t>3</a:t>
              </a:r>
            </a:p>
          </p:txBody>
        </p:sp>
      </p:grpSp>
      <p:sp>
        <p:nvSpPr>
          <p:cNvPr id="24" name="TextBox 24"/>
          <p:cNvSpPr txBox="1"/>
          <p:nvPr/>
        </p:nvSpPr>
        <p:spPr>
          <a:xfrm>
            <a:off x="2847975" y="2857500"/>
            <a:ext cx="14478000" cy="495300"/>
          </a:xfrm>
          <a:prstGeom prst="rect">
            <a:avLst/>
          </a:prstGeom>
        </p:spPr>
        <p:txBody>
          <a:bodyPr lIns="0" tIns="0" rIns="0" bIns="0" rtlCol="0" anchor="t">
            <a:spAutoFit/>
          </a:bodyPr>
          <a:lstStyle/>
          <a:p>
            <a:pPr algn="l">
              <a:lnSpc>
                <a:spcPts val="3959"/>
              </a:lnSpc>
            </a:pPr>
            <a:r>
              <a:rPr lang="en-US" sz="3299">
                <a:solidFill>
                  <a:srgbClr val="1F2A2E"/>
                </a:solidFill>
                <a:latin typeface="Baloo"/>
                <a:ea typeface="Baloo"/>
                <a:cs typeface="Baloo"/>
                <a:sym typeface="Baloo"/>
              </a:rPr>
              <a:t>  Nhận Thức </a:t>
            </a:r>
          </a:p>
        </p:txBody>
      </p:sp>
      <p:sp>
        <p:nvSpPr>
          <p:cNvPr id="25" name="TextBox 25"/>
          <p:cNvSpPr txBox="1"/>
          <p:nvPr/>
        </p:nvSpPr>
        <p:spPr>
          <a:xfrm>
            <a:off x="2867025" y="3429000"/>
            <a:ext cx="14478000" cy="1123951"/>
          </a:xfrm>
          <a:prstGeom prst="rect">
            <a:avLst/>
          </a:prstGeom>
        </p:spPr>
        <p:txBody>
          <a:bodyPr lIns="0" tIns="0" rIns="0" bIns="0" rtlCol="0" anchor="t">
            <a:spAutoFit/>
          </a:bodyPr>
          <a:lstStyle/>
          <a:p>
            <a:pPr algn="l">
              <a:lnSpc>
                <a:spcPts val="4649"/>
              </a:lnSpc>
            </a:pPr>
            <a:r>
              <a:rPr lang="en-US" sz="2999">
                <a:solidFill>
                  <a:srgbClr val="1F2A2E"/>
                </a:solidFill>
                <a:latin typeface="Nunito"/>
                <a:ea typeface="Nunito"/>
                <a:cs typeface="Nunito"/>
                <a:sym typeface="Nunito"/>
              </a:rPr>
              <a:t>Có rất ít người dân hiểu đúng về ATTP, và vẫn còn nhiều người chủ quan, thường xuyên sử dụng thức ăn đường phố không che đậy.</a:t>
            </a:r>
          </a:p>
        </p:txBody>
      </p:sp>
      <p:sp>
        <p:nvSpPr>
          <p:cNvPr id="26" name="TextBox 26"/>
          <p:cNvSpPr txBox="1"/>
          <p:nvPr/>
        </p:nvSpPr>
        <p:spPr>
          <a:xfrm>
            <a:off x="2857500" y="5143500"/>
            <a:ext cx="14478000" cy="514350"/>
          </a:xfrm>
          <a:prstGeom prst="rect">
            <a:avLst/>
          </a:prstGeom>
        </p:spPr>
        <p:txBody>
          <a:bodyPr lIns="0" tIns="0" rIns="0" bIns="0" rtlCol="0" anchor="t">
            <a:spAutoFit/>
          </a:bodyPr>
          <a:lstStyle/>
          <a:p>
            <a:pPr algn="l">
              <a:lnSpc>
                <a:spcPts val="4079"/>
              </a:lnSpc>
            </a:pPr>
            <a:r>
              <a:rPr lang="en-US" sz="3399">
                <a:solidFill>
                  <a:srgbClr val="1F2A2E"/>
                </a:solidFill>
                <a:latin typeface="Baloo"/>
                <a:ea typeface="Baloo"/>
                <a:cs typeface="Baloo"/>
                <a:sym typeface="Baloo"/>
              </a:rPr>
              <a:t> Thực Trạng bệnh</a:t>
            </a:r>
          </a:p>
        </p:txBody>
      </p:sp>
      <p:sp>
        <p:nvSpPr>
          <p:cNvPr id="27" name="TextBox 27"/>
          <p:cNvSpPr txBox="1"/>
          <p:nvPr/>
        </p:nvSpPr>
        <p:spPr>
          <a:xfrm>
            <a:off x="2867025" y="5715000"/>
            <a:ext cx="14468475" cy="1123274"/>
          </a:xfrm>
          <a:prstGeom prst="rect">
            <a:avLst/>
          </a:prstGeom>
        </p:spPr>
        <p:txBody>
          <a:bodyPr lIns="0" tIns="0" rIns="0" bIns="0" rtlCol="0" anchor="t">
            <a:spAutoFit/>
          </a:bodyPr>
          <a:lstStyle/>
          <a:p>
            <a:pPr algn="l">
              <a:lnSpc>
                <a:spcPts val="4646"/>
              </a:lnSpc>
            </a:pPr>
            <a:r>
              <a:rPr lang="en-US" sz="2998">
                <a:solidFill>
                  <a:srgbClr val="1F2A2E"/>
                </a:solidFill>
                <a:latin typeface="Nunito"/>
                <a:ea typeface="Nunito"/>
                <a:cs typeface="Nunito"/>
                <a:sym typeface="Nunito"/>
              </a:rPr>
              <a:t>Bệnh tiêu chảy và viêm dạ dày là phổ biến nhất, chiếm 80</a:t>
            </a:r>
            <a:r>
              <a:rPr lang="en-US" sz="2998" b="1">
                <a:solidFill>
                  <a:srgbClr val="1F2A2E"/>
                </a:solidFill>
                <a:latin typeface="Nunito Bold"/>
                <a:ea typeface="Nunito Bold"/>
                <a:cs typeface="Nunito Bold"/>
                <a:sym typeface="Nunito Bold"/>
              </a:rPr>
              <a:t>%</a:t>
            </a:r>
            <a:r>
              <a:rPr lang="en-US" sz="2998">
                <a:solidFill>
                  <a:srgbClr val="1F2A2E"/>
                </a:solidFill>
                <a:latin typeface="Nunito"/>
                <a:ea typeface="Nunito"/>
                <a:cs typeface="Nunito"/>
                <a:sym typeface="Nunito"/>
              </a:rPr>
              <a:t> số ca ghi nhận tại địa phương.</a:t>
            </a:r>
          </a:p>
        </p:txBody>
      </p:sp>
      <p:sp>
        <p:nvSpPr>
          <p:cNvPr id="28" name="TextBox 28"/>
          <p:cNvSpPr txBox="1"/>
          <p:nvPr/>
        </p:nvSpPr>
        <p:spPr>
          <a:xfrm>
            <a:off x="2857500" y="7429500"/>
            <a:ext cx="14478000" cy="514350"/>
          </a:xfrm>
          <a:prstGeom prst="rect">
            <a:avLst/>
          </a:prstGeom>
        </p:spPr>
        <p:txBody>
          <a:bodyPr lIns="0" tIns="0" rIns="0" bIns="0" rtlCol="0" anchor="t">
            <a:spAutoFit/>
          </a:bodyPr>
          <a:lstStyle/>
          <a:p>
            <a:pPr algn="l">
              <a:lnSpc>
                <a:spcPts val="4079"/>
              </a:lnSpc>
            </a:pPr>
            <a:r>
              <a:rPr lang="en-US" sz="3399">
                <a:solidFill>
                  <a:srgbClr val="1F2A2E"/>
                </a:solidFill>
                <a:latin typeface="Baloo"/>
                <a:ea typeface="Baloo"/>
                <a:cs typeface="Baloo"/>
                <a:sym typeface="Baloo"/>
              </a:rPr>
              <a:t> Sử Dụng Thực Phẩm</a:t>
            </a:r>
          </a:p>
        </p:txBody>
      </p:sp>
      <p:sp>
        <p:nvSpPr>
          <p:cNvPr id="29" name="TextBox 29"/>
          <p:cNvSpPr txBox="1"/>
          <p:nvPr/>
        </p:nvSpPr>
        <p:spPr>
          <a:xfrm>
            <a:off x="2857500" y="8001000"/>
            <a:ext cx="14478000" cy="1123951"/>
          </a:xfrm>
          <a:prstGeom prst="rect">
            <a:avLst/>
          </a:prstGeom>
        </p:spPr>
        <p:txBody>
          <a:bodyPr lIns="0" tIns="0" rIns="0" bIns="0" rtlCol="0" anchor="t">
            <a:spAutoFit/>
          </a:bodyPr>
          <a:lstStyle/>
          <a:p>
            <a:pPr algn="l">
              <a:lnSpc>
                <a:spcPts val="4649"/>
              </a:lnSpc>
            </a:pPr>
            <a:r>
              <a:rPr lang="en-US" sz="2999" b="1">
                <a:solidFill>
                  <a:srgbClr val="1F2A2E"/>
                </a:solidFill>
                <a:latin typeface="Nunito Bold"/>
                <a:ea typeface="Nunito Bold"/>
                <a:cs typeface="Nunito Bold"/>
                <a:sym typeface="Nunito Bold"/>
              </a:rPr>
              <a:t> 60%</a:t>
            </a:r>
            <a:r>
              <a:rPr lang="en-US" sz="2999">
                <a:solidFill>
                  <a:srgbClr val="1F2A2E"/>
                </a:solidFill>
                <a:latin typeface="Nunito"/>
                <a:ea typeface="Nunito"/>
                <a:cs typeface="Nunito"/>
                <a:sym typeface="Nunito"/>
              </a:rPr>
              <a:t> hộ gia đình vẫn có thói quen tích trữ thức ăn quá 2 ngày trong tủ lạnh hoặc chưa phân loại kỹ thực phẩm sống - chín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9EFEE"/>
        </a:solidFill>
        <a:effectLst/>
      </p:bgPr>
    </p:bg>
    <p:spTree>
      <p:nvGrpSpPr>
        <p:cNvPr id="1" name=""/>
        <p:cNvGrpSpPr/>
        <p:nvPr/>
      </p:nvGrpSpPr>
      <p:grpSpPr>
        <a:xfrm>
          <a:off x="0" y="0"/>
          <a:ext cx="0" cy="0"/>
          <a:chOff x="0" y="0"/>
          <a:chExt cx="0" cy="0"/>
        </a:xfrm>
      </p:grpSpPr>
      <p:grpSp>
        <p:nvGrpSpPr>
          <p:cNvPr id="2" name="Group 2"/>
          <p:cNvGrpSpPr/>
          <p:nvPr/>
        </p:nvGrpSpPr>
        <p:grpSpPr>
          <a:xfrm>
            <a:off x="1047750" y="1607820"/>
            <a:ext cx="1143000" cy="57150"/>
            <a:chOff x="0" y="0"/>
            <a:chExt cx="1524000" cy="76200"/>
          </a:xfrm>
        </p:grpSpPr>
        <p:sp>
          <p:nvSpPr>
            <p:cNvPr id="3" name="Freeform 3"/>
            <p:cNvSpPr/>
            <p:nvPr/>
          </p:nvSpPr>
          <p:spPr>
            <a:xfrm>
              <a:off x="0" y="0"/>
              <a:ext cx="1524000" cy="76200"/>
            </a:xfrm>
            <a:custGeom>
              <a:avLst/>
              <a:gdLst/>
              <a:ahLst/>
              <a:cxnLst/>
              <a:rect l="l" t="t" r="r" b="b"/>
              <a:pathLst>
                <a:path w="1524000" h="76200">
                  <a:moveTo>
                    <a:pt x="38100" y="0"/>
                  </a:moveTo>
                  <a:lnTo>
                    <a:pt x="1485900" y="0"/>
                  </a:lnTo>
                  <a:cubicBezTo>
                    <a:pt x="1506942" y="0"/>
                    <a:pt x="1524000" y="17058"/>
                    <a:pt x="1524000" y="38100"/>
                  </a:cubicBezTo>
                  <a:lnTo>
                    <a:pt x="1524000" y="38100"/>
                  </a:lnTo>
                  <a:cubicBezTo>
                    <a:pt x="1524000" y="59142"/>
                    <a:pt x="1506942" y="76200"/>
                    <a:pt x="1485900" y="76200"/>
                  </a:cubicBezTo>
                  <a:lnTo>
                    <a:pt x="38100" y="76200"/>
                  </a:lnTo>
                  <a:cubicBezTo>
                    <a:pt x="17058" y="76200"/>
                    <a:pt x="0" y="59142"/>
                    <a:pt x="0" y="38100"/>
                  </a:cubicBezTo>
                  <a:lnTo>
                    <a:pt x="0" y="38100"/>
                  </a:lnTo>
                  <a:cubicBezTo>
                    <a:pt x="0" y="17058"/>
                    <a:pt x="17058" y="0"/>
                    <a:pt x="38100" y="0"/>
                  </a:cubicBezTo>
                  <a:close/>
                </a:path>
              </a:pathLst>
            </a:custGeom>
            <a:solidFill>
              <a:srgbClr val="E26A8A"/>
            </a:solidFill>
            <a:ln cap="rnd">
              <a:noFill/>
              <a:prstDash val="solid"/>
              <a:round/>
            </a:ln>
          </p:spPr>
        </p:sp>
        <p:sp>
          <p:nvSpPr>
            <p:cNvPr id="4" name="TextBox 4"/>
            <p:cNvSpPr txBox="1"/>
            <p:nvPr/>
          </p:nvSpPr>
          <p:spPr>
            <a:xfrm>
              <a:off x="0" y="-38100"/>
              <a:ext cx="1524000" cy="114300"/>
            </a:xfrm>
            <a:prstGeom prst="rect">
              <a:avLst/>
            </a:prstGeom>
          </p:spPr>
          <p:txBody>
            <a:bodyPr lIns="50800" tIns="50800" rIns="50800" bIns="50800" rtlCol="0" anchor="ctr"/>
            <a:lstStyle/>
            <a:p>
              <a:pPr algn="l">
                <a:lnSpc>
                  <a:spcPts val="1679"/>
                </a:lnSpc>
              </a:pPr>
              <a:endParaRPr/>
            </a:p>
          </p:txBody>
        </p:sp>
      </p:grpSp>
      <p:sp>
        <p:nvSpPr>
          <p:cNvPr id="5" name="TextBox 5"/>
          <p:cNvSpPr txBox="1"/>
          <p:nvPr/>
        </p:nvSpPr>
        <p:spPr>
          <a:xfrm>
            <a:off x="1047750" y="704850"/>
            <a:ext cx="14287500" cy="731520"/>
          </a:xfrm>
          <a:prstGeom prst="rect">
            <a:avLst/>
          </a:prstGeom>
        </p:spPr>
        <p:txBody>
          <a:bodyPr lIns="0" tIns="0" rIns="0" bIns="0" rtlCol="0" anchor="t">
            <a:spAutoFit/>
          </a:bodyPr>
          <a:lstStyle/>
          <a:p>
            <a:pPr algn="l">
              <a:lnSpc>
                <a:spcPts val="5610"/>
              </a:lnSpc>
            </a:pPr>
            <a:r>
              <a:rPr lang="en-US" sz="5100">
                <a:solidFill>
                  <a:srgbClr val="1F2A2E"/>
                </a:solidFill>
                <a:latin typeface="Baloo"/>
                <a:ea typeface="Baloo"/>
                <a:cs typeface="Baloo"/>
                <a:sym typeface="Baloo"/>
              </a:rPr>
              <a:t>THẢO LUẬN</a:t>
            </a:r>
          </a:p>
        </p:txBody>
      </p:sp>
      <p:grpSp>
        <p:nvGrpSpPr>
          <p:cNvPr id="6" name="Group 6"/>
          <p:cNvGrpSpPr/>
          <p:nvPr/>
        </p:nvGrpSpPr>
        <p:grpSpPr>
          <a:xfrm>
            <a:off x="1047750" y="1836420"/>
            <a:ext cx="12467968" cy="7688580"/>
            <a:chOff x="0" y="0"/>
            <a:chExt cx="15240000" cy="9398000"/>
          </a:xfrm>
        </p:grpSpPr>
        <p:sp>
          <p:nvSpPr>
            <p:cNvPr id="7" name="Freeform 7"/>
            <p:cNvSpPr/>
            <p:nvPr/>
          </p:nvSpPr>
          <p:spPr>
            <a:xfrm>
              <a:off x="0" y="0"/>
              <a:ext cx="15240000" cy="9398000"/>
            </a:xfrm>
            <a:custGeom>
              <a:avLst/>
              <a:gdLst/>
              <a:ahLst/>
              <a:cxnLst/>
              <a:rect l="l" t="t" r="r" b="b"/>
              <a:pathLst>
                <a:path w="15240000" h="9398000">
                  <a:moveTo>
                    <a:pt x="58214" y="0"/>
                  </a:moveTo>
                  <a:lnTo>
                    <a:pt x="15181786" y="0"/>
                  </a:lnTo>
                  <a:cubicBezTo>
                    <a:pt x="15197226" y="0"/>
                    <a:pt x="15212033" y="6133"/>
                    <a:pt x="15222950" y="17050"/>
                  </a:cubicBezTo>
                  <a:cubicBezTo>
                    <a:pt x="15233867" y="27968"/>
                    <a:pt x="15240000" y="42774"/>
                    <a:pt x="15240000" y="58214"/>
                  </a:cubicBezTo>
                  <a:lnTo>
                    <a:pt x="15240000" y="9339786"/>
                  </a:lnTo>
                  <a:cubicBezTo>
                    <a:pt x="15240000" y="9355226"/>
                    <a:pt x="15233867" y="9370033"/>
                    <a:pt x="15222950" y="9380950"/>
                  </a:cubicBezTo>
                  <a:cubicBezTo>
                    <a:pt x="15212033" y="9391867"/>
                    <a:pt x="15197226" y="9398000"/>
                    <a:pt x="15181786" y="9398000"/>
                  </a:cubicBezTo>
                  <a:lnTo>
                    <a:pt x="58214" y="9398000"/>
                  </a:lnTo>
                  <a:cubicBezTo>
                    <a:pt x="42774" y="9398000"/>
                    <a:pt x="27968" y="9391867"/>
                    <a:pt x="17050" y="9380950"/>
                  </a:cubicBezTo>
                  <a:cubicBezTo>
                    <a:pt x="6133" y="9370033"/>
                    <a:pt x="0" y="9355226"/>
                    <a:pt x="0" y="9339786"/>
                  </a:cubicBezTo>
                  <a:lnTo>
                    <a:pt x="0" y="58214"/>
                  </a:lnTo>
                  <a:cubicBezTo>
                    <a:pt x="0" y="42774"/>
                    <a:pt x="6133" y="27968"/>
                    <a:pt x="17050" y="17050"/>
                  </a:cubicBezTo>
                  <a:cubicBezTo>
                    <a:pt x="27968" y="6133"/>
                    <a:pt x="42774" y="0"/>
                    <a:pt x="58214" y="0"/>
                  </a:cubicBezTo>
                  <a:close/>
                </a:path>
              </a:pathLst>
            </a:custGeom>
            <a:solidFill>
              <a:srgbClr val="FFFFFF"/>
            </a:solidFill>
            <a:ln w="19050" cap="rnd">
              <a:solidFill>
                <a:srgbClr val="3A3A3A"/>
              </a:solidFill>
              <a:prstDash val="solid"/>
              <a:round/>
            </a:ln>
          </p:spPr>
        </p:sp>
        <p:sp>
          <p:nvSpPr>
            <p:cNvPr id="8" name="TextBox 8"/>
            <p:cNvSpPr txBox="1"/>
            <p:nvPr/>
          </p:nvSpPr>
          <p:spPr>
            <a:xfrm>
              <a:off x="0" y="-76200"/>
              <a:ext cx="15240000" cy="9474200"/>
            </a:xfrm>
            <a:prstGeom prst="rect">
              <a:avLst/>
            </a:prstGeom>
          </p:spPr>
          <p:txBody>
            <a:bodyPr lIns="50800" tIns="50800" rIns="50800" bIns="50800" rtlCol="0" anchor="ctr"/>
            <a:lstStyle/>
            <a:p>
              <a:pPr algn="l">
                <a:lnSpc>
                  <a:spcPts val="4339"/>
                </a:lnSpc>
              </a:pPr>
              <a:r>
                <a:rPr lang="en-US" sz="3099" b="1" dirty="0">
                  <a:solidFill>
                    <a:srgbClr val="000000"/>
                  </a:solidFill>
                  <a:latin typeface="Arimo Bold"/>
                  <a:ea typeface="Arimo Bold"/>
                  <a:cs typeface="Arimo Bold"/>
                  <a:sym typeface="Arimo Bold"/>
                </a:rPr>
                <a:t> 1-Phân </a:t>
              </a:r>
              <a:r>
                <a:rPr lang="en-US" sz="3099" b="1" dirty="0" err="1">
                  <a:solidFill>
                    <a:srgbClr val="000000"/>
                  </a:solidFill>
                  <a:latin typeface="Arimo Bold"/>
                  <a:ea typeface="Arimo Bold"/>
                  <a:cs typeface="Arimo Bold"/>
                  <a:sym typeface="Arimo Bold"/>
                </a:rPr>
                <a:t>tích</a:t>
              </a:r>
              <a:r>
                <a:rPr lang="en-US" sz="3099" b="1" dirty="0">
                  <a:solidFill>
                    <a:srgbClr val="000000"/>
                  </a:solidFill>
                  <a:latin typeface="Arimo Bold"/>
                  <a:ea typeface="Arimo Bold"/>
                  <a:cs typeface="Arimo Bold"/>
                  <a:sym typeface="Arimo Bold"/>
                </a:rPr>
                <a:t>:</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Kết</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quả</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cho</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thấy</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những</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khu</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vực</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sử</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dụng</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nước</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giếng</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khoan</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chưa</a:t>
              </a:r>
              <a:r>
                <a:rPr lang="en-US" sz="3099" dirty="0">
                  <a:solidFill>
                    <a:srgbClr val="000000"/>
                  </a:solidFill>
                  <a:latin typeface="Arimo"/>
                  <a:ea typeface="Arimo"/>
                  <a:cs typeface="Arimo"/>
                  <a:sym typeface="Arimo"/>
                </a:rPr>
                <a:t> qua </a:t>
              </a:r>
              <a:r>
                <a:rPr lang="en-US" sz="3099" dirty="0" err="1">
                  <a:solidFill>
                    <a:srgbClr val="000000"/>
                  </a:solidFill>
                  <a:latin typeface="Arimo"/>
                  <a:ea typeface="Arimo"/>
                  <a:cs typeface="Arimo"/>
                  <a:sym typeface="Arimo"/>
                </a:rPr>
                <a:t>lọc</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có</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tỉ</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lệ</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mắc</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bệnh</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đường</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ruột</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cao</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hơn</a:t>
              </a:r>
              <a:r>
                <a:rPr lang="en-US" sz="3099" dirty="0">
                  <a:solidFill>
                    <a:srgbClr val="000000"/>
                  </a:solidFill>
                  <a:latin typeface="Arimo"/>
                  <a:ea typeface="Arimo"/>
                  <a:cs typeface="Arimo"/>
                  <a:sym typeface="Arimo"/>
                </a:rPr>
                <a:t> </a:t>
              </a:r>
              <a:r>
                <a:rPr lang="en-US" sz="3099" dirty="0" err="1">
                  <a:solidFill>
                    <a:srgbClr val="000000"/>
                  </a:solidFill>
                  <a:latin typeface="Arimo"/>
                  <a:ea typeface="Arimo"/>
                  <a:cs typeface="Arimo"/>
                  <a:sym typeface="Arimo"/>
                </a:rPr>
                <a:t>hẳn</a:t>
              </a:r>
              <a:r>
                <a:rPr lang="en-US" sz="3099" dirty="0">
                  <a:solidFill>
                    <a:srgbClr val="000000"/>
                  </a:solidFill>
                  <a:latin typeface="Arimo"/>
                  <a:ea typeface="Arimo"/>
                  <a:cs typeface="Arimo"/>
                  <a:sym typeface="Arimo"/>
                </a:rPr>
                <a:t>.</a:t>
              </a:r>
            </a:p>
            <a:p>
              <a:pPr algn="l">
                <a:lnSpc>
                  <a:spcPts val="4619"/>
                </a:lnSpc>
              </a:pPr>
              <a:r>
                <a:rPr lang="en-US" sz="3299" b="1" dirty="0">
                  <a:solidFill>
                    <a:srgbClr val="000000"/>
                  </a:solidFill>
                  <a:latin typeface="Arimo Bold"/>
                  <a:ea typeface="Arimo Bold"/>
                  <a:cs typeface="Arimo Bold"/>
                  <a:sym typeface="Arimo Bold"/>
                </a:rPr>
                <a:t>2</a:t>
              </a:r>
              <a:r>
                <a:rPr lang="en-US" sz="3299" dirty="0">
                  <a:solidFill>
                    <a:srgbClr val="000000"/>
                  </a:solidFill>
                  <a:latin typeface="Arimo"/>
                  <a:ea typeface="Arimo"/>
                  <a:cs typeface="Arimo"/>
                  <a:sym typeface="Arimo"/>
                </a:rPr>
                <a:t>-</a:t>
              </a:r>
              <a:r>
                <a:rPr lang="en-US" sz="3299" b="1" dirty="0">
                  <a:solidFill>
                    <a:srgbClr val="000000"/>
                  </a:solidFill>
                  <a:latin typeface="Arimo Bold"/>
                  <a:ea typeface="Arimo Bold"/>
                  <a:cs typeface="Arimo Bold"/>
                  <a:sym typeface="Arimo Bold"/>
                </a:rPr>
                <a:t>So </a:t>
              </a:r>
              <a:r>
                <a:rPr lang="en-US" sz="3299" b="1" dirty="0" err="1">
                  <a:solidFill>
                    <a:srgbClr val="000000"/>
                  </a:solidFill>
                  <a:latin typeface="Arimo Bold"/>
                  <a:ea typeface="Arimo Bold"/>
                  <a:cs typeface="Arimo Bold"/>
                  <a:sym typeface="Arimo Bold"/>
                </a:rPr>
                <a:t>sánh</a:t>
              </a:r>
              <a:r>
                <a:rPr lang="en-US" sz="3299" dirty="0">
                  <a:solidFill>
                    <a:srgbClr val="000000"/>
                  </a:solidFill>
                  <a:latin typeface="Arimo"/>
                  <a:ea typeface="Arimo"/>
                  <a:cs typeface="Arimo"/>
                  <a:sym typeface="Arimo"/>
                </a:rPr>
                <a:t>:</a:t>
              </a:r>
            </a:p>
            <a:p>
              <a:pPr marL="690869" lvl="1" indent="-345435" algn="l">
                <a:lnSpc>
                  <a:spcPts val="4479"/>
                </a:lnSpc>
                <a:buFont typeface="Arial"/>
                <a:buChar char="•"/>
              </a:pPr>
              <a:r>
                <a:rPr lang="en-US" sz="3199" dirty="0" err="1">
                  <a:solidFill>
                    <a:srgbClr val="000000"/>
                  </a:solidFill>
                  <a:latin typeface="Arimo"/>
                  <a:ea typeface="Arimo"/>
                  <a:cs typeface="Arimo"/>
                  <a:sym typeface="Arimo"/>
                </a:rPr>
                <a:t>Tương</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đồng</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Kết</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quả</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này</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tương</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đồng</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với</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nghiên</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cứu</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của</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Ông</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Vãn</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Triều</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về</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việc</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thói</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quen</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vệ</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sinh</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tay</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trước</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khi</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ăn</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làm</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giảm</a:t>
              </a:r>
              <a:r>
                <a:rPr lang="en-US" sz="3199" dirty="0">
                  <a:solidFill>
                    <a:srgbClr val="000000"/>
                  </a:solidFill>
                  <a:latin typeface="Arimo"/>
                  <a:ea typeface="Arimo"/>
                  <a:cs typeface="Arimo"/>
                  <a:sym typeface="Arimo"/>
                </a:rPr>
                <a:t> 40% </a:t>
              </a:r>
              <a:r>
                <a:rPr lang="en-US" sz="3199" dirty="0" err="1">
                  <a:solidFill>
                    <a:srgbClr val="000000"/>
                  </a:solidFill>
                  <a:latin typeface="Arimo"/>
                  <a:ea typeface="Arimo"/>
                  <a:cs typeface="Arimo"/>
                  <a:sym typeface="Arimo"/>
                </a:rPr>
                <a:t>nguy</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cơ</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mắc</a:t>
              </a:r>
              <a:r>
                <a:rPr lang="en-US" sz="3199" dirty="0">
                  <a:solidFill>
                    <a:srgbClr val="000000"/>
                  </a:solidFill>
                  <a:latin typeface="Arimo"/>
                  <a:ea typeface="Arimo"/>
                  <a:cs typeface="Arimo"/>
                  <a:sym typeface="Arimo"/>
                </a:rPr>
                <a:t> </a:t>
              </a:r>
              <a:r>
                <a:rPr lang="en-US" sz="3199" dirty="0" err="1">
                  <a:solidFill>
                    <a:srgbClr val="000000"/>
                  </a:solidFill>
                  <a:latin typeface="Arimo"/>
                  <a:ea typeface="Arimo"/>
                  <a:cs typeface="Arimo"/>
                  <a:sym typeface="Arimo"/>
                </a:rPr>
                <a:t>bệnh</a:t>
              </a:r>
              <a:r>
                <a:rPr lang="en-US" sz="3199" dirty="0">
                  <a:solidFill>
                    <a:srgbClr val="000000"/>
                  </a:solidFill>
                  <a:latin typeface="Arimo"/>
                  <a:ea typeface="Arimo"/>
                  <a:cs typeface="Arimo"/>
                  <a:sym typeface="Arimo"/>
                </a:rPr>
                <a:t>.</a:t>
              </a:r>
            </a:p>
            <a:p>
              <a:pPr marL="734048" lvl="1" indent="-367024" algn="l">
                <a:lnSpc>
                  <a:spcPts val="4759"/>
                </a:lnSpc>
                <a:buFont typeface="Arial"/>
                <a:buChar char="•"/>
              </a:pPr>
              <a:r>
                <a:rPr lang="en-US" sz="3399" dirty="0" err="1">
                  <a:solidFill>
                    <a:srgbClr val="000000"/>
                  </a:solidFill>
                  <a:latin typeface="Arimo"/>
                  <a:ea typeface="Arimo"/>
                  <a:cs typeface="Arimo"/>
                  <a:sym typeface="Arimo"/>
                </a:rPr>
                <a:t>Phát</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hiện</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mới</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Điểm</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mới</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phát</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hiện</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là</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tỷ</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lệ</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người</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trẻ</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lạm</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dụng</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thức</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ăn</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nhanh</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đồ</a:t>
              </a:r>
              <a:r>
                <a:rPr lang="en-US" sz="3399" dirty="0">
                  <a:solidFill>
                    <a:srgbClr val="000000"/>
                  </a:solidFill>
                  <a:latin typeface="Arimo"/>
                  <a:ea typeface="Arimo"/>
                  <a:cs typeface="Arimo"/>
                  <a:sym typeface="Arimo"/>
                </a:rPr>
                <a:t> cay </a:t>
              </a:r>
              <a:r>
                <a:rPr lang="en-US" sz="3399" dirty="0" err="1">
                  <a:solidFill>
                    <a:srgbClr val="000000"/>
                  </a:solidFill>
                  <a:latin typeface="Arimo"/>
                  <a:ea typeface="Arimo"/>
                  <a:cs typeface="Arimo"/>
                  <a:sym typeface="Arimo"/>
                </a:rPr>
                <a:t>nóng</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tại</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địa</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phương</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đang</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tăng</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mạnh</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dẫn</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đến</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các</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bệnh</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về</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dạ</a:t>
              </a:r>
              <a:r>
                <a:rPr lang="en-US" sz="3399" dirty="0">
                  <a:solidFill>
                    <a:srgbClr val="000000"/>
                  </a:solidFill>
                  <a:latin typeface="Arimo"/>
                  <a:ea typeface="Arimo"/>
                  <a:cs typeface="Arimo"/>
                  <a:sym typeface="Arimo"/>
                </a:rPr>
                <a:t> </a:t>
              </a:r>
              <a:r>
                <a:rPr lang="en-US" sz="3399" dirty="0" err="1">
                  <a:solidFill>
                    <a:srgbClr val="000000"/>
                  </a:solidFill>
                  <a:latin typeface="Arimo"/>
                  <a:ea typeface="Arimo"/>
                  <a:cs typeface="Arimo"/>
                  <a:sym typeface="Arimo"/>
                </a:rPr>
                <a:t>dày</a:t>
              </a:r>
              <a:r>
                <a:rPr lang="en-US" sz="3399" dirty="0">
                  <a:solidFill>
                    <a:srgbClr val="000000"/>
                  </a:solidFill>
                  <a:latin typeface="Arimo"/>
                  <a:ea typeface="Arimo"/>
                  <a:cs typeface="Arimo"/>
                  <a:sym typeface="Arimo"/>
                </a:rPr>
                <a:t>.</a:t>
              </a:r>
            </a:p>
            <a:p>
              <a:pPr algn="l">
                <a:lnSpc>
                  <a:spcPts val="4339"/>
                </a:lnSpc>
              </a:pPr>
              <a:endParaRPr lang="en-US" sz="3399" dirty="0">
                <a:solidFill>
                  <a:srgbClr val="000000"/>
                </a:solidFill>
                <a:latin typeface="Arimo"/>
                <a:ea typeface="Arimo"/>
                <a:cs typeface="Arimo"/>
                <a:sym typeface="Arimo"/>
              </a:endParaRPr>
            </a:p>
          </p:txBody>
        </p:sp>
      </p:grpSp>
      <p:grpSp>
        <p:nvGrpSpPr>
          <p:cNvPr id="9" name="Group 9"/>
          <p:cNvGrpSpPr/>
          <p:nvPr/>
        </p:nvGrpSpPr>
        <p:grpSpPr>
          <a:xfrm>
            <a:off x="14478000" y="3619500"/>
            <a:ext cx="3048000" cy="4191000"/>
            <a:chOff x="0" y="0"/>
            <a:chExt cx="4064000" cy="5588000"/>
          </a:xfrm>
        </p:grpSpPr>
        <p:sp>
          <p:nvSpPr>
            <p:cNvPr id="10" name="Freeform 10"/>
            <p:cNvSpPr/>
            <p:nvPr/>
          </p:nvSpPr>
          <p:spPr>
            <a:xfrm>
              <a:off x="0" y="0"/>
              <a:ext cx="4064000" cy="5588000"/>
            </a:xfrm>
            <a:custGeom>
              <a:avLst/>
              <a:gdLst/>
              <a:ahLst/>
              <a:cxnLst/>
              <a:rect l="l" t="t" r="r" b="b"/>
              <a:pathLst>
                <a:path w="4064000" h="5588000">
                  <a:moveTo>
                    <a:pt x="238125" y="0"/>
                  </a:moveTo>
                  <a:lnTo>
                    <a:pt x="3825875" y="0"/>
                  </a:lnTo>
                  <a:cubicBezTo>
                    <a:pt x="3957388" y="0"/>
                    <a:pt x="4064000" y="106612"/>
                    <a:pt x="4064000" y="238125"/>
                  </a:cubicBezTo>
                  <a:lnTo>
                    <a:pt x="4064000" y="5349875"/>
                  </a:lnTo>
                  <a:cubicBezTo>
                    <a:pt x="4064000" y="5481388"/>
                    <a:pt x="3957388" y="5588000"/>
                    <a:pt x="3825875" y="5588000"/>
                  </a:cubicBezTo>
                  <a:lnTo>
                    <a:pt x="238125" y="5588000"/>
                  </a:lnTo>
                  <a:cubicBezTo>
                    <a:pt x="106612" y="5588000"/>
                    <a:pt x="0" y="5481388"/>
                    <a:pt x="0" y="5349875"/>
                  </a:cubicBezTo>
                  <a:lnTo>
                    <a:pt x="0" y="238125"/>
                  </a:lnTo>
                  <a:cubicBezTo>
                    <a:pt x="0" y="106612"/>
                    <a:pt x="106612" y="0"/>
                    <a:pt x="238125" y="0"/>
                  </a:cubicBezTo>
                  <a:close/>
                </a:path>
              </a:pathLst>
            </a:custGeom>
            <a:solidFill>
              <a:srgbClr val="EAF6F4"/>
            </a:solidFill>
            <a:ln w="19050" cap="rnd">
              <a:solidFill>
                <a:srgbClr val="3A3A3A"/>
              </a:solidFill>
              <a:prstDash val="solid"/>
              <a:round/>
            </a:ln>
          </p:spPr>
        </p:sp>
        <p:sp>
          <p:nvSpPr>
            <p:cNvPr id="11" name="TextBox 11"/>
            <p:cNvSpPr txBox="1"/>
            <p:nvPr/>
          </p:nvSpPr>
          <p:spPr>
            <a:xfrm>
              <a:off x="0" y="-38100"/>
              <a:ext cx="4064000" cy="5626100"/>
            </a:xfrm>
            <a:prstGeom prst="rect">
              <a:avLst/>
            </a:prstGeom>
          </p:spPr>
          <p:txBody>
            <a:bodyPr lIns="50800" tIns="50800" rIns="50800" bIns="50800" rtlCol="0" anchor="ctr"/>
            <a:lstStyle/>
            <a:p>
              <a:pPr algn="l">
                <a:lnSpc>
                  <a:spcPts val="1679"/>
                </a:lnSpc>
              </a:pPr>
              <a:endParaRPr/>
            </a:p>
          </p:txBody>
        </p:sp>
      </p:grpSp>
      <p:grpSp>
        <p:nvGrpSpPr>
          <p:cNvPr id="12" name="Group 12"/>
          <p:cNvGrpSpPr/>
          <p:nvPr/>
        </p:nvGrpSpPr>
        <p:grpSpPr>
          <a:xfrm>
            <a:off x="14859000" y="5334000"/>
            <a:ext cx="666750" cy="2095500"/>
            <a:chOff x="0" y="0"/>
            <a:chExt cx="889000" cy="2794000"/>
          </a:xfrm>
        </p:grpSpPr>
        <p:sp>
          <p:nvSpPr>
            <p:cNvPr id="13" name="Freeform 13"/>
            <p:cNvSpPr/>
            <p:nvPr/>
          </p:nvSpPr>
          <p:spPr>
            <a:xfrm>
              <a:off x="0" y="0"/>
              <a:ext cx="889000" cy="2794000"/>
            </a:xfrm>
            <a:custGeom>
              <a:avLst/>
              <a:gdLst/>
              <a:ahLst/>
              <a:cxnLst/>
              <a:rect l="l" t="t" r="r" b="b"/>
              <a:pathLst>
                <a:path w="889000" h="2794000">
                  <a:moveTo>
                    <a:pt x="272143" y="0"/>
                  </a:moveTo>
                  <a:lnTo>
                    <a:pt x="616857" y="0"/>
                  </a:lnTo>
                  <a:cubicBezTo>
                    <a:pt x="767157" y="0"/>
                    <a:pt x="889000" y="121843"/>
                    <a:pt x="889000" y="272143"/>
                  </a:cubicBezTo>
                  <a:lnTo>
                    <a:pt x="889000" y="2521857"/>
                  </a:lnTo>
                  <a:cubicBezTo>
                    <a:pt x="889000" y="2672157"/>
                    <a:pt x="767157" y="2794000"/>
                    <a:pt x="616857" y="2794000"/>
                  </a:cubicBezTo>
                  <a:lnTo>
                    <a:pt x="272143" y="2794000"/>
                  </a:lnTo>
                  <a:cubicBezTo>
                    <a:pt x="121843" y="2794000"/>
                    <a:pt x="0" y="2672157"/>
                    <a:pt x="0" y="2521857"/>
                  </a:cubicBezTo>
                  <a:lnTo>
                    <a:pt x="0" y="272143"/>
                  </a:lnTo>
                  <a:cubicBezTo>
                    <a:pt x="0" y="121843"/>
                    <a:pt x="121843" y="0"/>
                    <a:pt x="272143" y="0"/>
                  </a:cubicBezTo>
                  <a:close/>
                </a:path>
              </a:pathLst>
            </a:custGeom>
            <a:solidFill>
              <a:srgbClr val="E26A8A"/>
            </a:solidFill>
            <a:ln w="19050" cap="sq">
              <a:solidFill>
                <a:srgbClr val="3A3A3A"/>
              </a:solidFill>
              <a:prstDash val="solid"/>
              <a:miter/>
            </a:ln>
          </p:spPr>
        </p:sp>
        <p:sp>
          <p:nvSpPr>
            <p:cNvPr id="14" name="TextBox 14"/>
            <p:cNvSpPr txBox="1"/>
            <p:nvPr/>
          </p:nvSpPr>
          <p:spPr>
            <a:xfrm>
              <a:off x="0" y="-38100"/>
              <a:ext cx="889000" cy="2832100"/>
            </a:xfrm>
            <a:prstGeom prst="rect">
              <a:avLst/>
            </a:prstGeom>
          </p:spPr>
          <p:txBody>
            <a:bodyPr lIns="50800" tIns="50800" rIns="50800" bIns="50800" rtlCol="0" anchor="ctr"/>
            <a:lstStyle/>
            <a:p>
              <a:pPr algn="l">
                <a:lnSpc>
                  <a:spcPts val="1679"/>
                </a:lnSpc>
              </a:pPr>
              <a:endParaRPr/>
            </a:p>
          </p:txBody>
        </p:sp>
      </p:grpSp>
      <p:grpSp>
        <p:nvGrpSpPr>
          <p:cNvPr id="15" name="Group 15"/>
          <p:cNvGrpSpPr/>
          <p:nvPr/>
        </p:nvGrpSpPr>
        <p:grpSpPr>
          <a:xfrm>
            <a:off x="15716250" y="4572000"/>
            <a:ext cx="666750" cy="2857500"/>
            <a:chOff x="0" y="0"/>
            <a:chExt cx="889000" cy="3810000"/>
          </a:xfrm>
        </p:grpSpPr>
        <p:sp>
          <p:nvSpPr>
            <p:cNvPr id="16" name="Freeform 16"/>
            <p:cNvSpPr/>
            <p:nvPr/>
          </p:nvSpPr>
          <p:spPr>
            <a:xfrm>
              <a:off x="0" y="0"/>
              <a:ext cx="889000" cy="3810000"/>
            </a:xfrm>
            <a:custGeom>
              <a:avLst/>
              <a:gdLst/>
              <a:ahLst/>
              <a:cxnLst/>
              <a:rect l="l" t="t" r="r" b="b"/>
              <a:pathLst>
                <a:path w="889000" h="3810000">
                  <a:moveTo>
                    <a:pt x="272143" y="0"/>
                  </a:moveTo>
                  <a:lnTo>
                    <a:pt x="616857" y="0"/>
                  </a:lnTo>
                  <a:cubicBezTo>
                    <a:pt x="767157" y="0"/>
                    <a:pt x="889000" y="121843"/>
                    <a:pt x="889000" y="272143"/>
                  </a:cubicBezTo>
                  <a:lnTo>
                    <a:pt x="889000" y="3537857"/>
                  </a:lnTo>
                  <a:cubicBezTo>
                    <a:pt x="889000" y="3688157"/>
                    <a:pt x="767157" y="3810000"/>
                    <a:pt x="616857" y="3810000"/>
                  </a:cubicBezTo>
                  <a:lnTo>
                    <a:pt x="272143" y="3810000"/>
                  </a:lnTo>
                  <a:cubicBezTo>
                    <a:pt x="121843" y="3810000"/>
                    <a:pt x="0" y="3688157"/>
                    <a:pt x="0" y="3537857"/>
                  </a:cubicBezTo>
                  <a:lnTo>
                    <a:pt x="0" y="272143"/>
                  </a:lnTo>
                  <a:cubicBezTo>
                    <a:pt x="0" y="121843"/>
                    <a:pt x="121843" y="0"/>
                    <a:pt x="272143" y="0"/>
                  </a:cubicBezTo>
                  <a:close/>
                </a:path>
              </a:pathLst>
            </a:custGeom>
            <a:solidFill>
              <a:srgbClr val="2A8A86"/>
            </a:solidFill>
            <a:ln w="19050" cap="sq">
              <a:solidFill>
                <a:srgbClr val="3A3A3A"/>
              </a:solidFill>
              <a:prstDash val="solid"/>
              <a:miter/>
            </a:ln>
          </p:spPr>
        </p:sp>
        <p:sp>
          <p:nvSpPr>
            <p:cNvPr id="17" name="TextBox 17"/>
            <p:cNvSpPr txBox="1"/>
            <p:nvPr/>
          </p:nvSpPr>
          <p:spPr>
            <a:xfrm>
              <a:off x="0" y="-38100"/>
              <a:ext cx="889000" cy="3848100"/>
            </a:xfrm>
            <a:prstGeom prst="rect">
              <a:avLst/>
            </a:prstGeom>
          </p:spPr>
          <p:txBody>
            <a:bodyPr lIns="50800" tIns="50800" rIns="50800" bIns="50800" rtlCol="0" anchor="ctr"/>
            <a:lstStyle/>
            <a:p>
              <a:pPr algn="l">
                <a:lnSpc>
                  <a:spcPts val="1679"/>
                </a:lnSpc>
              </a:pPr>
              <a:endParaRPr/>
            </a:p>
          </p:txBody>
        </p:sp>
      </p:grpSp>
      <p:grpSp>
        <p:nvGrpSpPr>
          <p:cNvPr id="18" name="Group 18"/>
          <p:cNvGrpSpPr/>
          <p:nvPr/>
        </p:nvGrpSpPr>
        <p:grpSpPr>
          <a:xfrm>
            <a:off x="16573500" y="5905500"/>
            <a:ext cx="666750" cy="1524000"/>
            <a:chOff x="0" y="0"/>
            <a:chExt cx="889000" cy="2032000"/>
          </a:xfrm>
        </p:grpSpPr>
        <p:sp>
          <p:nvSpPr>
            <p:cNvPr id="19" name="Freeform 19"/>
            <p:cNvSpPr/>
            <p:nvPr/>
          </p:nvSpPr>
          <p:spPr>
            <a:xfrm>
              <a:off x="0" y="0"/>
              <a:ext cx="889000" cy="2032000"/>
            </a:xfrm>
            <a:custGeom>
              <a:avLst/>
              <a:gdLst/>
              <a:ahLst/>
              <a:cxnLst/>
              <a:rect l="l" t="t" r="r" b="b"/>
              <a:pathLst>
                <a:path w="889000" h="2032000">
                  <a:moveTo>
                    <a:pt x="272143" y="0"/>
                  </a:moveTo>
                  <a:lnTo>
                    <a:pt x="616857" y="0"/>
                  </a:lnTo>
                  <a:cubicBezTo>
                    <a:pt x="767157" y="0"/>
                    <a:pt x="889000" y="121843"/>
                    <a:pt x="889000" y="272143"/>
                  </a:cubicBezTo>
                  <a:lnTo>
                    <a:pt x="889000" y="1759857"/>
                  </a:lnTo>
                  <a:cubicBezTo>
                    <a:pt x="889000" y="1910157"/>
                    <a:pt x="767157" y="2032000"/>
                    <a:pt x="616857" y="2032000"/>
                  </a:cubicBezTo>
                  <a:lnTo>
                    <a:pt x="272143" y="2032000"/>
                  </a:lnTo>
                  <a:cubicBezTo>
                    <a:pt x="121843" y="2032000"/>
                    <a:pt x="0" y="1910157"/>
                    <a:pt x="0" y="1759857"/>
                  </a:cubicBezTo>
                  <a:lnTo>
                    <a:pt x="0" y="272143"/>
                  </a:lnTo>
                  <a:cubicBezTo>
                    <a:pt x="0" y="121843"/>
                    <a:pt x="121843" y="0"/>
                    <a:pt x="272143" y="0"/>
                  </a:cubicBezTo>
                  <a:close/>
                </a:path>
              </a:pathLst>
            </a:custGeom>
            <a:solidFill>
              <a:srgbClr val="F7D774"/>
            </a:solidFill>
            <a:ln w="19050" cap="sq">
              <a:solidFill>
                <a:srgbClr val="3A3A3A"/>
              </a:solidFill>
              <a:prstDash val="solid"/>
              <a:miter/>
            </a:ln>
          </p:spPr>
        </p:sp>
        <p:sp>
          <p:nvSpPr>
            <p:cNvPr id="20" name="TextBox 20"/>
            <p:cNvSpPr txBox="1"/>
            <p:nvPr/>
          </p:nvSpPr>
          <p:spPr>
            <a:xfrm>
              <a:off x="0" y="-38100"/>
              <a:ext cx="889000" cy="2070100"/>
            </a:xfrm>
            <a:prstGeom prst="rect">
              <a:avLst/>
            </a:prstGeom>
          </p:spPr>
          <p:txBody>
            <a:bodyPr lIns="50800" tIns="50800" rIns="50800" bIns="50800" rtlCol="0" anchor="ctr"/>
            <a:lstStyle/>
            <a:p>
              <a:pPr algn="l">
                <a:lnSpc>
                  <a:spcPts val="1679"/>
                </a:lnSpc>
              </a:pPr>
              <a:endParaRPr/>
            </a:p>
          </p:txBody>
        </p:sp>
      </p:grpSp>
      <p:sp>
        <p:nvSpPr>
          <p:cNvPr id="21" name="AutoShape 21"/>
          <p:cNvSpPr/>
          <p:nvPr/>
        </p:nvSpPr>
        <p:spPr>
          <a:xfrm>
            <a:off x="14763750" y="7448550"/>
            <a:ext cx="2571750" cy="0"/>
          </a:xfrm>
          <a:prstGeom prst="line">
            <a:avLst/>
          </a:prstGeom>
          <a:ln w="28575" cap="rnd">
            <a:solidFill>
              <a:srgbClr val="3A3A3A"/>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9EFEE"/>
        </a:solidFill>
        <a:effectLst/>
      </p:bgPr>
    </p:bg>
    <p:spTree>
      <p:nvGrpSpPr>
        <p:cNvPr id="1" name=""/>
        <p:cNvGrpSpPr/>
        <p:nvPr/>
      </p:nvGrpSpPr>
      <p:grpSpPr>
        <a:xfrm>
          <a:off x="0" y="0"/>
          <a:ext cx="0" cy="0"/>
          <a:chOff x="0" y="0"/>
          <a:chExt cx="0" cy="0"/>
        </a:xfrm>
      </p:grpSpPr>
      <p:grpSp>
        <p:nvGrpSpPr>
          <p:cNvPr id="2" name="Group 2"/>
          <p:cNvGrpSpPr/>
          <p:nvPr/>
        </p:nvGrpSpPr>
        <p:grpSpPr>
          <a:xfrm>
            <a:off x="1047750" y="1607820"/>
            <a:ext cx="1143000" cy="57150"/>
            <a:chOff x="0" y="0"/>
            <a:chExt cx="1524000" cy="76200"/>
          </a:xfrm>
        </p:grpSpPr>
        <p:sp>
          <p:nvSpPr>
            <p:cNvPr id="3" name="Freeform 3"/>
            <p:cNvSpPr/>
            <p:nvPr/>
          </p:nvSpPr>
          <p:spPr>
            <a:xfrm>
              <a:off x="0" y="0"/>
              <a:ext cx="1524000" cy="76200"/>
            </a:xfrm>
            <a:custGeom>
              <a:avLst/>
              <a:gdLst/>
              <a:ahLst/>
              <a:cxnLst/>
              <a:rect l="l" t="t" r="r" b="b"/>
              <a:pathLst>
                <a:path w="1524000" h="76200">
                  <a:moveTo>
                    <a:pt x="38100" y="0"/>
                  </a:moveTo>
                  <a:lnTo>
                    <a:pt x="1485900" y="0"/>
                  </a:lnTo>
                  <a:cubicBezTo>
                    <a:pt x="1506942" y="0"/>
                    <a:pt x="1524000" y="17058"/>
                    <a:pt x="1524000" y="38100"/>
                  </a:cubicBezTo>
                  <a:lnTo>
                    <a:pt x="1524000" y="38100"/>
                  </a:lnTo>
                  <a:cubicBezTo>
                    <a:pt x="1524000" y="59142"/>
                    <a:pt x="1506942" y="76200"/>
                    <a:pt x="1485900" y="76200"/>
                  </a:cubicBezTo>
                  <a:lnTo>
                    <a:pt x="38100" y="76200"/>
                  </a:lnTo>
                  <a:cubicBezTo>
                    <a:pt x="17058" y="76200"/>
                    <a:pt x="0" y="59142"/>
                    <a:pt x="0" y="38100"/>
                  </a:cubicBezTo>
                  <a:lnTo>
                    <a:pt x="0" y="38100"/>
                  </a:lnTo>
                  <a:cubicBezTo>
                    <a:pt x="0" y="17058"/>
                    <a:pt x="17058" y="0"/>
                    <a:pt x="38100" y="0"/>
                  </a:cubicBezTo>
                  <a:close/>
                </a:path>
              </a:pathLst>
            </a:custGeom>
            <a:solidFill>
              <a:srgbClr val="E26A8A"/>
            </a:solidFill>
            <a:ln cap="rnd">
              <a:noFill/>
              <a:prstDash val="solid"/>
              <a:round/>
            </a:ln>
          </p:spPr>
        </p:sp>
        <p:sp>
          <p:nvSpPr>
            <p:cNvPr id="4" name="TextBox 4"/>
            <p:cNvSpPr txBox="1"/>
            <p:nvPr/>
          </p:nvSpPr>
          <p:spPr>
            <a:xfrm>
              <a:off x="0" y="-38100"/>
              <a:ext cx="1524000" cy="114300"/>
            </a:xfrm>
            <a:prstGeom prst="rect">
              <a:avLst/>
            </a:prstGeom>
          </p:spPr>
          <p:txBody>
            <a:bodyPr lIns="50800" tIns="50800" rIns="50800" bIns="50800" rtlCol="0" anchor="ctr"/>
            <a:lstStyle/>
            <a:p>
              <a:pPr algn="l">
                <a:lnSpc>
                  <a:spcPts val="1679"/>
                </a:lnSpc>
              </a:pPr>
              <a:endParaRPr/>
            </a:p>
          </p:txBody>
        </p:sp>
      </p:grpSp>
      <p:sp>
        <p:nvSpPr>
          <p:cNvPr id="5" name="TextBox 5"/>
          <p:cNvSpPr txBox="1"/>
          <p:nvPr/>
        </p:nvSpPr>
        <p:spPr>
          <a:xfrm>
            <a:off x="1047750" y="704850"/>
            <a:ext cx="14287500" cy="731520"/>
          </a:xfrm>
          <a:prstGeom prst="rect">
            <a:avLst/>
          </a:prstGeom>
        </p:spPr>
        <p:txBody>
          <a:bodyPr lIns="0" tIns="0" rIns="0" bIns="0" rtlCol="0" anchor="t">
            <a:spAutoFit/>
          </a:bodyPr>
          <a:lstStyle/>
          <a:p>
            <a:pPr algn="l">
              <a:lnSpc>
                <a:spcPts val="5610"/>
              </a:lnSpc>
            </a:pPr>
            <a:r>
              <a:rPr lang="en-US" sz="5100">
                <a:solidFill>
                  <a:srgbClr val="1F2A2E"/>
                </a:solidFill>
                <a:latin typeface="Baloo"/>
                <a:ea typeface="Baloo"/>
                <a:cs typeface="Baloo"/>
                <a:sym typeface="Baloo"/>
              </a:rPr>
              <a:t>KẾT LUẬN</a:t>
            </a:r>
          </a:p>
        </p:txBody>
      </p:sp>
      <p:grpSp>
        <p:nvGrpSpPr>
          <p:cNvPr id="6" name="Group 6"/>
          <p:cNvGrpSpPr/>
          <p:nvPr/>
        </p:nvGrpSpPr>
        <p:grpSpPr>
          <a:xfrm>
            <a:off x="1238250" y="2456224"/>
            <a:ext cx="16311341" cy="6878276"/>
            <a:chOff x="0" y="0"/>
            <a:chExt cx="21082000" cy="8890000"/>
          </a:xfrm>
        </p:grpSpPr>
        <p:sp>
          <p:nvSpPr>
            <p:cNvPr id="7" name="Freeform 7"/>
            <p:cNvSpPr/>
            <p:nvPr/>
          </p:nvSpPr>
          <p:spPr>
            <a:xfrm>
              <a:off x="0" y="0"/>
              <a:ext cx="21082000" cy="8890000"/>
            </a:xfrm>
            <a:custGeom>
              <a:avLst/>
              <a:gdLst/>
              <a:ahLst/>
              <a:cxnLst/>
              <a:rect l="l" t="t" r="r" b="b"/>
              <a:pathLst>
                <a:path w="21082000" h="8890000">
                  <a:moveTo>
                    <a:pt x="44497" y="0"/>
                  </a:moveTo>
                  <a:lnTo>
                    <a:pt x="21037503" y="0"/>
                  </a:lnTo>
                  <a:cubicBezTo>
                    <a:pt x="21062079" y="0"/>
                    <a:pt x="21082000" y="19922"/>
                    <a:pt x="21082000" y="44497"/>
                  </a:cubicBezTo>
                  <a:lnTo>
                    <a:pt x="21082000" y="8845503"/>
                  </a:lnTo>
                  <a:cubicBezTo>
                    <a:pt x="21082000" y="8870078"/>
                    <a:pt x="21062079" y="8890000"/>
                    <a:pt x="21037503" y="8890000"/>
                  </a:cubicBezTo>
                  <a:lnTo>
                    <a:pt x="44497" y="8890000"/>
                  </a:lnTo>
                  <a:cubicBezTo>
                    <a:pt x="19922" y="8890000"/>
                    <a:pt x="0" y="8870078"/>
                    <a:pt x="0" y="8845503"/>
                  </a:cubicBezTo>
                  <a:lnTo>
                    <a:pt x="0" y="44497"/>
                  </a:lnTo>
                  <a:cubicBezTo>
                    <a:pt x="0" y="19922"/>
                    <a:pt x="19922" y="0"/>
                    <a:pt x="44497" y="0"/>
                  </a:cubicBezTo>
                  <a:close/>
                </a:path>
              </a:pathLst>
            </a:custGeom>
            <a:solidFill>
              <a:srgbClr val="DDE7C7"/>
            </a:solidFill>
            <a:ln w="28575" cap="rnd">
              <a:solidFill>
                <a:srgbClr val="3A3A3A"/>
              </a:solidFill>
              <a:prstDash val="solid"/>
              <a:round/>
            </a:ln>
          </p:spPr>
        </p:sp>
        <p:sp>
          <p:nvSpPr>
            <p:cNvPr id="8" name="TextBox 8"/>
            <p:cNvSpPr txBox="1"/>
            <p:nvPr/>
          </p:nvSpPr>
          <p:spPr>
            <a:xfrm>
              <a:off x="0" y="-38100"/>
              <a:ext cx="21082000" cy="8928100"/>
            </a:xfrm>
            <a:prstGeom prst="rect">
              <a:avLst/>
            </a:prstGeom>
          </p:spPr>
          <p:txBody>
            <a:bodyPr lIns="50800" tIns="50800" rIns="50800" bIns="50800" rtlCol="0" anchor="ctr"/>
            <a:lstStyle/>
            <a:p>
              <a:pPr algn="l">
                <a:lnSpc>
                  <a:spcPts val="1679"/>
                </a:lnSpc>
              </a:pPr>
              <a:endParaRPr/>
            </a:p>
          </p:txBody>
        </p:sp>
      </p:grpSp>
      <p:sp>
        <p:nvSpPr>
          <p:cNvPr id="9" name="TextBox 9"/>
          <p:cNvSpPr txBox="1"/>
          <p:nvPr/>
        </p:nvSpPr>
        <p:spPr>
          <a:xfrm>
            <a:off x="2000250" y="3228975"/>
            <a:ext cx="14287500" cy="581025"/>
          </a:xfrm>
          <a:prstGeom prst="rect">
            <a:avLst/>
          </a:prstGeom>
        </p:spPr>
        <p:txBody>
          <a:bodyPr lIns="0" tIns="0" rIns="0" bIns="0" rtlCol="0" anchor="t">
            <a:spAutoFit/>
          </a:bodyPr>
          <a:lstStyle/>
          <a:p>
            <a:pPr algn="l">
              <a:lnSpc>
                <a:spcPts val="4559"/>
              </a:lnSpc>
            </a:pPr>
            <a:r>
              <a:rPr lang="en-US" sz="3799">
                <a:solidFill>
                  <a:srgbClr val="1F2A2E"/>
                </a:solidFill>
                <a:latin typeface="Baloo"/>
                <a:ea typeface="Baloo"/>
                <a:cs typeface="Baloo"/>
                <a:sym typeface="Baloo"/>
              </a:rPr>
              <a:t>1.Kết Luận</a:t>
            </a:r>
          </a:p>
        </p:txBody>
      </p:sp>
      <p:sp>
        <p:nvSpPr>
          <p:cNvPr id="10" name="TextBox 10"/>
          <p:cNvSpPr txBox="1"/>
          <p:nvPr/>
        </p:nvSpPr>
        <p:spPr>
          <a:xfrm>
            <a:off x="2000250" y="3686175"/>
            <a:ext cx="14287500" cy="2319021"/>
          </a:xfrm>
          <a:prstGeom prst="rect">
            <a:avLst/>
          </a:prstGeom>
        </p:spPr>
        <p:txBody>
          <a:bodyPr lIns="0" tIns="0" rIns="0" bIns="0" rtlCol="0" anchor="t">
            <a:spAutoFit/>
          </a:bodyPr>
          <a:lstStyle/>
          <a:p>
            <a:pPr algn="l">
              <a:lnSpc>
                <a:spcPts val="5734"/>
              </a:lnSpc>
            </a:pPr>
            <a:r>
              <a:rPr lang="en-US" sz="3699">
                <a:solidFill>
                  <a:srgbClr val="1F2A2E"/>
                </a:solidFill>
                <a:latin typeface="Nunito"/>
                <a:ea typeface="Nunito"/>
                <a:cs typeface="Nunito"/>
                <a:sym typeface="Nunito"/>
              </a:rPr>
              <a:t> Nhận thức người dân đã tăng nhưng hành vi thực tế chưa thay đổi, nguồn thực phẩm bẩn vẫn khó kiểm soát</a:t>
            </a:r>
          </a:p>
          <a:p>
            <a:pPr algn="l">
              <a:lnSpc>
                <a:spcPts val="3719"/>
              </a:lnSpc>
            </a:pPr>
            <a:endParaRPr lang="en-US" sz="3699">
              <a:solidFill>
                <a:srgbClr val="1F2A2E"/>
              </a:solidFill>
              <a:latin typeface="Nunito"/>
              <a:ea typeface="Nunito"/>
              <a:cs typeface="Nunito"/>
              <a:sym typeface="Nunito"/>
            </a:endParaRPr>
          </a:p>
          <a:p>
            <a:pPr algn="l">
              <a:lnSpc>
                <a:spcPts val="3255"/>
              </a:lnSpc>
            </a:pPr>
            <a:endParaRPr lang="en-US" sz="3699">
              <a:solidFill>
                <a:srgbClr val="1F2A2E"/>
              </a:solidFill>
              <a:latin typeface="Nunito"/>
              <a:ea typeface="Nunito"/>
              <a:cs typeface="Nunito"/>
              <a:sym typeface="Nunito"/>
            </a:endParaRPr>
          </a:p>
        </p:txBody>
      </p:sp>
      <p:sp>
        <p:nvSpPr>
          <p:cNvPr id="11" name="TextBox 11"/>
          <p:cNvSpPr txBox="1"/>
          <p:nvPr/>
        </p:nvSpPr>
        <p:spPr>
          <a:xfrm>
            <a:off x="2000250" y="5381625"/>
            <a:ext cx="14287500" cy="600075"/>
          </a:xfrm>
          <a:prstGeom prst="rect">
            <a:avLst/>
          </a:prstGeom>
        </p:spPr>
        <p:txBody>
          <a:bodyPr lIns="0" tIns="0" rIns="0" bIns="0" rtlCol="0" anchor="t">
            <a:spAutoFit/>
          </a:bodyPr>
          <a:lstStyle/>
          <a:p>
            <a:pPr algn="l">
              <a:lnSpc>
                <a:spcPts val="4799"/>
              </a:lnSpc>
            </a:pPr>
            <a:r>
              <a:rPr lang="en-US" sz="3999">
                <a:solidFill>
                  <a:srgbClr val="1F2A2E"/>
                </a:solidFill>
                <a:latin typeface="Baloo"/>
                <a:ea typeface="Baloo"/>
                <a:cs typeface="Baloo"/>
                <a:sym typeface="Baloo"/>
              </a:rPr>
              <a:t>2.Kiến Nghị </a:t>
            </a:r>
          </a:p>
        </p:txBody>
      </p:sp>
      <p:sp>
        <p:nvSpPr>
          <p:cNvPr id="12" name="TextBox 12"/>
          <p:cNvSpPr txBox="1"/>
          <p:nvPr/>
        </p:nvSpPr>
        <p:spPr>
          <a:xfrm>
            <a:off x="2000250" y="6062346"/>
            <a:ext cx="14287500" cy="2761299"/>
          </a:xfrm>
          <a:prstGeom prst="rect">
            <a:avLst/>
          </a:prstGeom>
        </p:spPr>
        <p:txBody>
          <a:bodyPr lIns="0" tIns="0" rIns="0" bIns="0" rtlCol="0" anchor="t">
            <a:spAutoFit/>
          </a:bodyPr>
          <a:lstStyle/>
          <a:p>
            <a:pPr algn="ctr">
              <a:lnSpc>
                <a:spcPts val="5579"/>
              </a:lnSpc>
            </a:pPr>
            <a:r>
              <a:rPr lang="en-US" sz="3599">
                <a:solidFill>
                  <a:srgbClr val="1F2A2E"/>
                </a:solidFill>
                <a:latin typeface="Nunito"/>
                <a:ea typeface="Nunito"/>
                <a:cs typeface="Nunito"/>
                <a:sym typeface="Nunito"/>
              </a:rPr>
              <a:t> - Đối với người dân: Ăn chín uống sôi, hạn chế đồ ăn lề đường không rõ nguồn gốc.</a:t>
            </a:r>
          </a:p>
          <a:p>
            <a:pPr algn="ctr">
              <a:lnSpc>
                <a:spcPts val="5889"/>
              </a:lnSpc>
            </a:pPr>
            <a:r>
              <a:rPr lang="en-US" sz="3799">
                <a:solidFill>
                  <a:srgbClr val="1F2A2E"/>
                </a:solidFill>
                <a:latin typeface="Nunito"/>
                <a:ea typeface="Nunito"/>
                <a:cs typeface="Nunito"/>
                <a:sym typeface="Nunito"/>
              </a:rPr>
              <a:t> </a:t>
            </a:r>
            <a:r>
              <a:rPr lang="en-US" sz="3799" b="1">
                <a:solidFill>
                  <a:srgbClr val="1F2A2E"/>
                </a:solidFill>
                <a:latin typeface="Nunito Bold"/>
                <a:ea typeface="Nunito Bold"/>
                <a:cs typeface="Nunito Bold"/>
                <a:sym typeface="Nunito Bold"/>
              </a:rPr>
              <a:t>- </a:t>
            </a:r>
            <a:r>
              <a:rPr lang="en-US" sz="3799">
                <a:solidFill>
                  <a:srgbClr val="1F2A2E"/>
                </a:solidFill>
                <a:latin typeface="Nunito"/>
                <a:ea typeface="Nunito"/>
                <a:cs typeface="Nunito"/>
                <a:sym typeface="Nunito"/>
              </a:rPr>
              <a:t>Đối với chính quyền: Tăng cường kiểm tra các cơ sở kinh do</a:t>
            </a:r>
          </a:p>
          <a:p>
            <a:pPr algn="l">
              <a:lnSpc>
                <a:spcPts val="5114"/>
              </a:lnSpc>
            </a:pPr>
            <a:endParaRPr lang="en-US" sz="3799">
              <a:solidFill>
                <a:srgbClr val="1F2A2E"/>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9EFEE"/>
        </a:solidFill>
        <a:effectLst/>
      </p:bgPr>
    </p:bg>
    <p:spTree>
      <p:nvGrpSpPr>
        <p:cNvPr id="1" name=""/>
        <p:cNvGrpSpPr/>
        <p:nvPr/>
      </p:nvGrpSpPr>
      <p:grpSpPr>
        <a:xfrm>
          <a:off x="0" y="0"/>
          <a:ext cx="0" cy="0"/>
          <a:chOff x="0" y="0"/>
          <a:chExt cx="0" cy="0"/>
        </a:xfrm>
      </p:grpSpPr>
      <p:grpSp>
        <p:nvGrpSpPr>
          <p:cNvPr id="2" name="Group 2"/>
          <p:cNvGrpSpPr/>
          <p:nvPr/>
        </p:nvGrpSpPr>
        <p:grpSpPr>
          <a:xfrm>
            <a:off x="3429000" y="8191500"/>
            <a:ext cx="11430000" cy="1333500"/>
            <a:chOff x="0" y="0"/>
            <a:chExt cx="15240000" cy="1778000"/>
          </a:xfrm>
        </p:grpSpPr>
        <p:sp>
          <p:nvSpPr>
            <p:cNvPr id="3" name="Freeform 3"/>
            <p:cNvSpPr/>
            <p:nvPr/>
          </p:nvSpPr>
          <p:spPr>
            <a:xfrm>
              <a:off x="0" y="0"/>
              <a:ext cx="15240000" cy="1778000"/>
            </a:xfrm>
            <a:custGeom>
              <a:avLst/>
              <a:gdLst/>
              <a:ahLst/>
              <a:cxnLst/>
              <a:rect l="l" t="t" r="r" b="b"/>
              <a:pathLst>
                <a:path w="15240000" h="1778000">
                  <a:moveTo>
                    <a:pt x="63500" y="0"/>
                  </a:moveTo>
                  <a:lnTo>
                    <a:pt x="15176500" y="0"/>
                  </a:lnTo>
                  <a:cubicBezTo>
                    <a:pt x="15211571" y="0"/>
                    <a:pt x="15240000" y="28430"/>
                    <a:pt x="15240000" y="63500"/>
                  </a:cubicBezTo>
                  <a:lnTo>
                    <a:pt x="15240000" y="1714500"/>
                  </a:lnTo>
                  <a:cubicBezTo>
                    <a:pt x="15240000" y="1749570"/>
                    <a:pt x="15211571" y="1778000"/>
                    <a:pt x="15176500" y="1778000"/>
                  </a:cubicBezTo>
                  <a:lnTo>
                    <a:pt x="63500" y="1778000"/>
                  </a:lnTo>
                  <a:cubicBezTo>
                    <a:pt x="28430" y="1778000"/>
                    <a:pt x="0" y="1749570"/>
                    <a:pt x="0" y="1714500"/>
                  </a:cubicBezTo>
                  <a:lnTo>
                    <a:pt x="0" y="63500"/>
                  </a:lnTo>
                  <a:cubicBezTo>
                    <a:pt x="0" y="28430"/>
                    <a:pt x="28430" y="0"/>
                    <a:pt x="63500" y="0"/>
                  </a:cubicBezTo>
                  <a:close/>
                </a:path>
              </a:pathLst>
            </a:custGeom>
            <a:solidFill>
              <a:srgbClr val="E26A8A"/>
            </a:solidFill>
            <a:ln w="19050" cap="rnd">
              <a:solidFill>
                <a:srgbClr val="3A3A3A"/>
              </a:solidFill>
              <a:prstDash val="solid"/>
              <a:round/>
            </a:ln>
          </p:spPr>
        </p:sp>
        <p:sp>
          <p:nvSpPr>
            <p:cNvPr id="4" name="TextBox 4"/>
            <p:cNvSpPr txBox="1"/>
            <p:nvPr/>
          </p:nvSpPr>
          <p:spPr>
            <a:xfrm>
              <a:off x="0" y="-38100"/>
              <a:ext cx="15240000" cy="1816100"/>
            </a:xfrm>
            <a:prstGeom prst="rect">
              <a:avLst/>
            </a:prstGeom>
          </p:spPr>
          <p:txBody>
            <a:bodyPr lIns="50800" tIns="50800" rIns="50800" bIns="50800" rtlCol="0" anchor="ctr"/>
            <a:lstStyle/>
            <a:p>
              <a:pPr algn="l">
                <a:lnSpc>
                  <a:spcPts val="1679"/>
                </a:lnSpc>
              </a:pPr>
              <a:endParaRPr/>
            </a:p>
          </p:txBody>
        </p:sp>
      </p:grpSp>
      <p:sp>
        <p:nvSpPr>
          <p:cNvPr id="5" name="Freeform 5"/>
          <p:cNvSpPr/>
          <p:nvPr/>
        </p:nvSpPr>
        <p:spPr>
          <a:xfrm>
            <a:off x="16535400" y="403903"/>
            <a:ext cx="1447799" cy="556337"/>
          </a:xfrm>
          <a:custGeom>
            <a:avLst/>
            <a:gdLst/>
            <a:ahLst/>
            <a:cxnLst/>
            <a:rect l="l" t="t" r="r" b="b"/>
            <a:pathLst>
              <a:path w="1617941" h="540392">
                <a:moveTo>
                  <a:pt x="0" y="0"/>
                </a:moveTo>
                <a:lnTo>
                  <a:pt x="1617941" y="0"/>
                </a:lnTo>
                <a:lnTo>
                  <a:pt x="1617941" y="540392"/>
                </a:lnTo>
                <a:lnTo>
                  <a:pt x="0" y="540392"/>
                </a:lnTo>
                <a:lnTo>
                  <a:pt x="0" y="0"/>
                </a:lnTo>
                <a:close/>
              </a:path>
            </a:pathLst>
          </a:custGeom>
          <a:blipFill>
            <a:blip r:embed="rId2"/>
            <a:stretch>
              <a:fillRect/>
            </a:stretch>
          </a:blipFill>
        </p:spPr>
      </p:sp>
      <p:sp>
        <p:nvSpPr>
          <p:cNvPr id="7" name="TextBox 7"/>
          <p:cNvSpPr txBox="1"/>
          <p:nvPr/>
        </p:nvSpPr>
        <p:spPr>
          <a:xfrm>
            <a:off x="3429000" y="8448675"/>
            <a:ext cx="11430000" cy="762000"/>
          </a:xfrm>
          <a:prstGeom prst="rect">
            <a:avLst/>
          </a:prstGeom>
        </p:spPr>
        <p:txBody>
          <a:bodyPr lIns="0" tIns="0" rIns="0" bIns="0" rtlCol="0" anchor="t">
            <a:spAutoFit/>
          </a:bodyPr>
          <a:lstStyle/>
          <a:p>
            <a:pPr algn="ctr">
              <a:lnSpc>
                <a:spcPts val="6299"/>
              </a:lnSpc>
            </a:pPr>
            <a:r>
              <a:rPr lang="en-US" sz="4500" spc="450">
                <a:solidFill>
                  <a:srgbClr val="FFFFFF"/>
                </a:solidFill>
                <a:latin typeface="Baloo"/>
                <a:ea typeface="Baloo"/>
                <a:cs typeface="Baloo"/>
                <a:sym typeface="Baloo"/>
              </a:rPr>
              <a:t>TRÂN TRỌNG CẢM ƠN!</a:t>
            </a:r>
          </a:p>
        </p:txBody>
      </p:sp>
      <p:sp>
        <p:nvSpPr>
          <p:cNvPr id="8" name="TextBox 8"/>
          <p:cNvSpPr txBox="1"/>
          <p:nvPr/>
        </p:nvSpPr>
        <p:spPr>
          <a:xfrm>
            <a:off x="685800" y="259728"/>
            <a:ext cx="15392400" cy="1275734"/>
          </a:xfrm>
          <a:prstGeom prst="rect">
            <a:avLst/>
          </a:prstGeom>
        </p:spPr>
        <p:txBody>
          <a:bodyPr wrap="square" lIns="0" tIns="0" rIns="0" bIns="0" rtlCol="0" anchor="t">
            <a:spAutoFit/>
          </a:bodyPr>
          <a:lstStyle/>
          <a:p>
            <a:pPr algn="l"/>
            <a:r>
              <a:rPr lang="en-US" sz="4145" b="1" dirty="0">
                <a:solidFill>
                  <a:srgbClr val="000000"/>
                </a:solidFill>
                <a:latin typeface="Noto Sans Bold"/>
                <a:ea typeface="Noto Sans Bold"/>
                <a:cs typeface="Noto Sans Bold"/>
                <a:sym typeface="Noto Sans Bold"/>
              </a:rPr>
              <a:t>Thành </a:t>
            </a:r>
            <a:r>
              <a:rPr lang="en-US" sz="4145" b="1" dirty="0" err="1">
                <a:solidFill>
                  <a:srgbClr val="000000"/>
                </a:solidFill>
                <a:latin typeface="Noto Sans Bold"/>
                <a:ea typeface="Noto Sans Bold"/>
                <a:cs typeface="Noto Sans Bold"/>
                <a:sym typeface="Noto Sans Bold"/>
              </a:rPr>
              <a:t>viên</a:t>
            </a:r>
            <a:r>
              <a:rPr lang="en-US" sz="4145" b="1" dirty="0">
                <a:solidFill>
                  <a:srgbClr val="000000"/>
                </a:solidFill>
                <a:latin typeface="Noto Sans Bold"/>
                <a:ea typeface="Noto Sans Bold"/>
                <a:cs typeface="Noto Sans Bold"/>
                <a:sym typeface="Noto Sans Bold"/>
              </a:rPr>
              <a:t> </a:t>
            </a:r>
            <a:r>
              <a:rPr lang="en-US" sz="4145" b="1" dirty="0" err="1">
                <a:solidFill>
                  <a:srgbClr val="000000"/>
                </a:solidFill>
                <a:latin typeface="Noto Sans Bold"/>
                <a:ea typeface="Noto Sans Bold"/>
                <a:cs typeface="Noto Sans Bold"/>
                <a:sym typeface="Noto Sans Bold"/>
              </a:rPr>
              <a:t>Tổ</a:t>
            </a:r>
            <a:r>
              <a:rPr lang="en-US" sz="4145" b="1" dirty="0">
                <a:solidFill>
                  <a:srgbClr val="000000"/>
                </a:solidFill>
                <a:latin typeface="Noto Sans Bold"/>
                <a:ea typeface="Noto Sans Bold"/>
                <a:cs typeface="Noto Sans Bold"/>
                <a:sym typeface="Noto Sans Bold"/>
              </a:rPr>
              <a:t> 1:</a:t>
            </a:r>
            <a:br>
              <a:rPr lang="vi-VN" sz="4400" dirty="0"/>
            </a:br>
            <a:r>
              <a:rPr lang="en-US" sz="4145" b="1" dirty="0">
                <a:solidFill>
                  <a:srgbClr val="000000"/>
                </a:solidFill>
                <a:latin typeface="Noto Sans Bold"/>
                <a:ea typeface="Noto Sans Bold"/>
                <a:cs typeface="Noto Sans Bold"/>
                <a:sym typeface="Noto Sans Bold"/>
              </a:rPr>
              <a:t>  </a:t>
            </a:r>
          </a:p>
        </p:txBody>
      </p:sp>
      <p:sp>
        <p:nvSpPr>
          <p:cNvPr id="11" name="Content Placeholder 10">
            <a:extLst>
              <a:ext uri="{FF2B5EF4-FFF2-40B4-BE49-F238E27FC236}">
                <a16:creationId xmlns:a16="http://schemas.microsoft.com/office/drawing/2014/main" id="{FF916272-C40B-BEED-2EB7-77107216F980}"/>
              </a:ext>
            </a:extLst>
          </p:cNvPr>
          <p:cNvSpPr>
            <a:spLocks noGrp="1"/>
          </p:cNvSpPr>
          <p:nvPr>
            <p:ph sz="half" idx="1"/>
          </p:nvPr>
        </p:nvSpPr>
        <p:spPr>
          <a:xfrm>
            <a:off x="413658" y="1333500"/>
            <a:ext cx="6215742" cy="4985100"/>
          </a:xfrm>
        </p:spPr>
        <p:txBody>
          <a:bodyPr>
            <a:normAutofit/>
          </a:bodyPr>
          <a:lstStyle/>
          <a:p>
            <a:r>
              <a:rPr lang="en-US" sz="3600" dirty="0">
                <a:solidFill>
                  <a:srgbClr val="050505"/>
                </a:solidFill>
                <a:latin typeface="Segoe UI Historic" panose="020B0502040204020203" pitchFamily="34" charset="0"/>
              </a:rPr>
              <a:t>1</a:t>
            </a:r>
            <a:r>
              <a:rPr lang="vi-VN" sz="3600" b="0" i="0" dirty="0">
                <a:solidFill>
                  <a:srgbClr val="050505"/>
                </a:solidFill>
                <a:effectLst/>
                <a:latin typeface="Segoe UI Historic" panose="020B0502040204020203" pitchFamily="34" charset="0"/>
              </a:rPr>
              <a:t>:Nguyễn Hoàng Ân Thiên </a:t>
            </a:r>
            <a:endParaRPr lang="en-US" sz="3600" b="0" i="0" dirty="0">
              <a:solidFill>
                <a:srgbClr val="050505"/>
              </a:solidFill>
              <a:effectLst/>
              <a:latin typeface="Segoe UI Historic" panose="020B0502040204020203" pitchFamily="34" charset="0"/>
            </a:endParaRPr>
          </a:p>
          <a:p>
            <a:r>
              <a:rPr lang="vi-VN" sz="3600" b="0" i="0" dirty="0">
                <a:solidFill>
                  <a:srgbClr val="050505"/>
                </a:solidFill>
                <a:effectLst/>
                <a:latin typeface="Segoe UI Historic" panose="020B0502040204020203" pitchFamily="34" charset="0"/>
              </a:rPr>
              <a:t>2:</a:t>
            </a:r>
            <a:r>
              <a:rPr lang="en-US" sz="3600" b="0" i="0" dirty="0">
                <a:solidFill>
                  <a:srgbClr val="050505"/>
                </a:solidFill>
                <a:effectLst/>
                <a:latin typeface="Segoe UI Historic" panose="020B0502040204020203" pitchFamily="34" charset="0"/>
              </a:rPr>
              <a:t>Lê Quang </a:t>
            </a:r>
            <a:r>
              <a:rPr lang="en-US" sz="3600" b="0" i="0" dirty="0" err="1">
                <a:solidFill>
                  <a:srgbClr val="050505"/>
                </a:solidFill>
                <a:effectLst/>
                <a:latin typeface="Segoe UI Historic" panose="020B0502040204020203" pitchFamily="34" charset="0"/>
              </a:rPr>
              <a:t>Cường</a:t>
            </a:r>
            <a:endParaRPr lang="en-US" sz="3600" b="0" i="0" dirty="0">
              <a:solidFill>
                <a:srgbClr val="050505"/>
              </a:solidFill>
              <a:effectLst/>
              <a:latin typeface="Segoe UI Historic" panose="020B0502040204020203" pitchFamily="34" charset="0"/>
            </a:endParaRPr>
          </a:p>
          <a:p>
            <a:r>
              <a:rPr lang="vi-VN" sz="3600" b="0" i="0" dirty="0">
                <a:solidFill>
                  <a:srgbClr val="050505"/>
                </a:solidFill>
                <a:effectLst/>
                <a:latin typeface="Segoe UI Historic" panose="020B0502040204020203" pitchFamily="34" charset="0"/>
              </a:rPr>
              <a:t>3:Đoàn Thị Phương Lan </a:t>
            </a:r>
            <a:endParaRPr lang="en-US" sz="3600" b="0" i="0" dirty="0">
              <a:solidFill>
                <a:srgbClr val="050505"/>
              </a:solidFill>
              <a:effectLst/>
              <a:latin typeface="Segoe UI Historic" panose="020B0502040204020203" pitchFamily="34" charset="0"/>
            </a:endParaRPr>
          </a:p>
          <a:p>
            <a:r>
              <a:rPr lang="vi-VN" sz="3600" b="0" i="0" dirty="0">
                <a:solidFill>
                  <a:srgbClr val="050505"/>
                </a:solidFill>
                <a:effectLst/>
                <a:latin typeface="Segoe UI Historic" panose="020B0502040204020203" pitchFamily="34" charset="0"/>
              </a:rPr>
              <a:t>4:Nguyễn Phạm Bảo Hân </a:t>
            </a:r>
            <a:endParaRPr lang="en-US" sz="3600" b="0" i="0" dirty="0">
              <a:solidFill>
                <a:srgbClr val="050505"/>
              </a:solidFill>
              <a:effectLst/>
              <a:latin typeface="Segoe UI Historic" panose="020B0502040204020203" pitchFamily="34" charset="0"/>
            </a:endParaRPr>
          </a:p>
          <a:p>
            <a:r>
              <a:rPr lang="vi-VN" sz="3600" b="0" i="0" dirty="0">
                <a:solidFill>
                  <a:srgbClr val="050505"/>
                </a:solidFill>
                <a:effectLst/>
                <a:latin typeface="Segoe UI Historic" panose="020B0502040204020203" pitchFamily="34" charset="0"/>
              </a:rPr>
              <a:t>5:Trương Thị Trà</a:t>
            </a:r>
            <a:endParaRPr lang="en-US" sz="3600" dirty="0"/>
          </a:p>
        </p:txBody>
      </p:sp>
      <p:sp>
        <p:nvSpPr>
          <p:cNvPr id="12" name="Content Placeholder 11">
            <a:extLst>
              <a:ext uri="{FF2B5EF4-FFF2-40B4-BE49-F238E27FC236}">
                <a16:creationId xmlns:a16="http://schemas.microsoft.com/office/drawing/2014/main" id="{53695032-2943-1C26-6232-FA0884D4A6C7}"/>
              </a:ext>
            </a:extLst>
          </p:cNvPr>
          <p:cNvSpPr>
            <a:spLocks noGrp="1"/>
          </p:cNvSpPr>
          <p:nvPr>
            <p:ph sz="half" idx="2"/>
          </p:nvPr>
        </p:nvSpPr>
        <p:spPr>
          <a:xfrm>
            <a:off x="10319658" y="1363300"/>
            <a:ext cx="6215742" cy="4499305"/>
          </a:xfrm>
        </p:spPr>
        <p:txBody>
          <a:bodyPr>
            <a:noAutofit/>
          </a:bodyPr>
          <a:lstStyle/>
          <a:p>
            <a:r>
              <a:rPr lang="vi-VN" sz="3600" b="0" i="0" dirty="0">
                <a:solidFill>
                  <a:srgbClr val="050505"/>
                </a:solidFill>
                <a:effectLst/>
                <a:latin typeface="Segoe UI Historic" panose="020B0502040204020203" pitchFamily="34" charset="0"/>
              </a:rPr>
              <a:t>6:Bùi Thanh Ngọc Vy </a:t>
            </a:r>
            <a:endParaRPr lang="en-US" sz="3600" b="0" i="0" dirty="0">
              <a:solidFill>
                <a:srgbClr val="050505"/>
              </a:solidFill>
              <a:effectLst/>
              <a:latin typeface="Segoe UI Historic" panose="020B0502040204020203" pitchFamily="34" charset="0"/>
            </a:endParaRPr>
          </a:p>
          <a:p>
            <a:r>
              <a:rPr lang="vi-VN" sz="3600" b="0" i="0" dirty="0">
                <a:solidFill>
                  <a:srgbClr val="050505"/>
                </a:solidFill>
                <a:effectLst/>
                <a:latin typeface="Segoe UI Historic" panose="020B0502040204020203" pitchFamily="34" charset="0"/>
              </a:rPr>
              <a:t>7:Nguyễn Minh Quân  </a:t>
            </a:r>
            <a:endParaRPr lang="en-US" sz="3600" b="0" i="0" dirty="0">
              <a:solidFill>
                <a:srgbClr val="050505"/>
              </a:solidFill>
              <a:effectLst/>
              <a:latin typeface="Segoe UI Historic" panose="020B0502040204020203" pitchFamily="34" charset="0"/>
            </a:endParaRPr>
          </a:p>
          <a:p>
            <a:r>
              <a:rPr lang="en-US" sz="3600" b="0" i="0" dirty="0">
                <a:solidFill>
                  <a:srgbClr val="050505"/>
                </a:solidFill>
                <a:effectLst/>
                <a:latin typeface="Segoe UI Historic" panose="020B0502040204020203" pitchFamily="34" charset="0"/>
              </a:rPr>
              <a:t>8:</a:t>
            </a:r>
            <a:r>
              <a:rPr lang="vi-VN" sz="3600" b="0" i="0" dirty="0">
                <a:solidFill>
                  <a:srgbClr val="050505"/>
                </a:solidFill>
                <a:effectLst/>
                <a:latin typeface="Segoe UI Historic" panose="020B0502040204020203" pitchFamily="34" charset="0"/>
              </a:rPr>
              <a:t>Nguyễn Đức Bảo Long </a:t>
            </a:r>
            <a:endParaRPr lang="en-US" sz="3600" b="0" i="0" dirty="0">
              <a:solidFill>
                <a:srgbClr val="050505"/>
              </a:solidFill>
              <a:effectLst/>
              <a:latin typeface="Segoe UI Historic" panose="020B0502040204020203" pitchFamily="34" charset="0"/>
            </a:endParaRPr>
          </a:p>
          <a:p>
            <a:r>
              <a:rPr lang="vi-VN" sz="3600" b="0" i="0" dirty="0">
                <a:solidFill>
                  <a:srgbClr val="050505"/>
                </a:solidFill>
                <a:effectLst/>
                <a:latin typeface="Segoe UI Historic" panose="020B0502040204020203" pitchFamily="34" charset="0"/>
              </a:rPr>
              <a:t>9:Trầ</a:t>
            </a:r>
            <a:r>
              <a:rPr lang="en-US" sz="3600" b="0" i="0" dirty="0">
                <a:solidFill>
                  <a:srgbClr val="050505"/>
                </a:solidFill>
                <a:effectLst/>
                <a:latin typeface="Segoe UI Historic" panose="020B0502040204020203" pitchFamily="34" charset="0"/>
              </a:rPr>
              <a:t>n </a:t>
            </a:r>
            <a:r>
              <a:rPr lang="en-US" sz="3600" b="0" i="0" dirty="0" err="1">
                <a:solidFill>
                  <a:srgbClr val="050505"/>
                </a:solidFill>
                <a:effectLst/>
                <a:latin typeface="Segoe UI Historic" panose="020B0502040204020203" pitchFamily="34" charset="0"/>
              </a:rPr>
              <a:t>Hải</a:t>
            </a:r>
            <a:r>
              <a:rPr lang="vi-VN" sz="3600" b="0" i="0" dirty="0">
                <a:solidFill>
                  <a:srgbClr val="050505"/>
                </a:solidFill>
                <a:effectLst/>
                <a:latin typeface="Segoe UI Historic" panose="020B0502040204020203" pitchFamily="34" charset="0"/>
              </a:rPr>
              <a:t> Vương Nam </a:t>
            </a:r>
            <a:endParaRPr lang="en-US" sz="3600" b="0" i="0" dirty="0">
              <a:solidFill>
                <a:srgbClr val="050505"/>
              </a:solidFill>
              <a:effectLst/>
              <a:latin typeface="Segoe UI Historic" panose="020B0502040204020203" pitchFamily="34" charset="0"/>
            </a:endParaRPr>
          </a:p>
          <a:p>
            <a:r>
              <a:rPr lang="vi-VN" sz="3600" b="0" i="0" dirty="0">
                <a:solidFill>
                  <a:srgbClr val="050505"/>
                </a:solidFill>
                <a:effectLst/>
                <a:latin typeface="Segoe UI Historic" panose="020B0502040204020203" pitchFamily="34" charset="0"/>
              </a:rPr>
              <a:t>10:Phạm Tuấn Mạnh</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539</Words>
  <Application>Microsoft Office PowerPoint</Application>
  <PresentationFormat>Custom</PresentationFormat>
  <Paragraphs>44</Paragraphs>
  <Slides>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vt:i4>
      </vt:variant>
    </vt:vector>
  </HeadingPairs>
  <TitlesOfParts>
    <vt:vector size="20" baseType="lpstr">
      <vt:lpstr>Arial</vt:lpstr>
      <vt:lpstr>Arimo</vt:lpstr>
      <vt:lpstr>Arimo Bold</vt:lpstr>
      <vt:lpstr>Baloo</vt:lpstr>
      <vt:lpstr>Calibri</vt:lpstr>
      <vt:lpstr>Google Sans</vt:lpstr>
      <vt:lpstr>Noto Sans Bold</vt:lpstr>
      <vt:lpstr>Nunito</vt:lpstr>
      <vt:lpstr>Nunito Bold</vt:lpstr>
      <vt:lpstr>Segoe UI Historic</vt:lpstr>
      <vt:lpstr>Times New Roman</vt:lpstr>
      <vt:lpstr>Office Theme</vt:lpstr>
      <vt:lpstr>BÁO CÁO KẾT QUẢ KHẢO SÁT THỰC TẾ VỀ MỘT SỐ BỆNH ĐƯỜNG TIÊU HOÁ VÀ VẤN ĐỀ VỆ SINH AN TOÀN THỰC PHẨM TẠI ĐỊA PHƯƠNG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Điều tra và nghiên cứu sẽ cung cấp thông tin quan trọng để nâng cao ý thức về vệ sinh an toàn thực phẩm và phòng ngừa bệnh tật đường tiêu hoá.</dc:title>
  <cp:lastModifiedBy>HH</cp:lastModifiedBy>
  <cp:revision>7</cp:revision>
  <dcterms:created xsi:type="dcterms:W3CDTF">2006-08-16T00:00:00Z</dcterms:created>
  <dcterms:modified xsi:type="dcterms:W3CDTF">2026-09-18T13:10:20Z</dcterms:modified>
  <dc:identifier>DAHVXcarF44</dc:identifier>
</cp:coreProperties>
</file>